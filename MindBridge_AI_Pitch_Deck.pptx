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a:t>
            </a:r>
          </a:p>
          <a:p>
            <a:r>
              <a:t>Welcome everyone. Today we present MindBridge AI, an AI-assisted cognitive screening support and longitudinal monitoring platform.</a:t>
            </a:r>
          </a:p>
          <a:p>
            <a:r>
              <a:t>Before diving in, we establish an essential clinical boundary: MindBridge AI is strictly an investigational screening support tool and longitudinal research instrument—not an autonomous Alzheimer's diagnostic system. It is engineered to capture millisecond-level cognitive variances across time, providing qualified clinicians and researchers with rich, structured psychometric data to inform clinical discussions.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a:t>
            </a:r>
          </a:p>
          <a:p>
            <a:r>
              <a:t>Cognitive assessment faces three systemic bottlenecks today. First, paper screenings provide only annual snapshots, masking subtle rate-of-change trajectories. Second, paper tests cannot record millisecond response latencies, which are critical early markers of processing speed and inhibitory control. Third, traditional cutoffs frequently fail to normalize for education and age, creating disparities. MindBridge AI was built to solve these specific challenges.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a:t>
            </a:r>
          </a:p>
          <a:p>
            <a:r>
              <a:t>Our solution unifies three critical components. First, a 5-task computerized battery that captures millisecond reaction times without requiring proprietary test kits. Second, Exasol Personal as our analytics database, providing in-memory columnar speed for longitudinal SQL queries and participant trajectory modeling. Third, a clinician-in-the-loop portal featuring normative scoring, an audited research ML pipeline, and exportable screening reports.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a:t>
            </a:r>
          </a:p>
          <a:p>
            <a:r>
              <a:t>Here you see actual screenshots from our running platform. Top-left shows our accessible participant portal with high-contrast and text scaling. Top-right demonstrates our active computerized cognitive task runner. Bottom-left displays the Plotly-powered normative radar chart comparing five cognitive domains against demographic peers. Bottom-right highlights the research ML dashboard, complete with ROC curves, calibration plots, and demographic fairness audits.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a:t>
            </a:r>
          </a:p>
          <a:p>
            <a:r>
              <a:t>The MindBridge AI user journey is engineered with human-centered ethical safeguards at every step. It begins with cryptographic consent and demographic intake. The participant completes five millisecond-precision tasks. Our backend computes normative Z-scores, presenting non-alarmist feedback to the participant while logging high-resolution time-series data in Exasol. Finally, the clinician accesses the full longitudinal record to support comprehensive medical evaluations.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a:t>
            </a:r>
          </a:p>
          <a:p>
            <a:r>
              <a:t>Our system architecture is modular and robust. On the frontend, React 19 and Plotly deliver fast, accessible interfaces. The FastAPI backend powers our normative scoring algorithms and research ML pipeline. For storage, we support Exasol Personal over pyexasol, backed by our verified Explicit Mock Exasol Adapter for environments where Docker is not running. All 11 automated pytest suites pass, validating security, scoring algorithms, and database connectivity.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a:t>
            </a:r>
          </a:p>
          <a:p>
            <a:r>
              <a:t>Exasol Personal serves as our high-performance analytical backbone. Cognitive assessments generate hundreds of millisecond reaction times per task. Exasol's in-memory columnar database excels at executing fast analytical window functions across multi-session histories. Crucially, our system maintains complete transparency: when Docker is inactive, our explicit mock adapter clearly labels data as synthetic, preventing silent failures or misleading clinical claims.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a:t>
            </a:r>
          </a:p>
          <a:p>
            <a:r>
              <a:t>Our machine learning pipeline emphasizes rigorous calibration and demographic fairness. We employ a calibrated Random Forest classifier achieving an 0.88 ROC-AUC and 0.12 Brier calibration score on synthetic benchmarks. Delayed word recall and Stroop interference latency carry the highest predictive weights. Critically, our live dashboard includes a Subgroup Fairness Audit across age tiers to ensure equal sensitivity and prevent algorithmic bias.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a:t>
            </a:r>
          </a:p>
          <a:p>
            <a:r>
              <a:t>Safety and privacy are foundational to MindBridge AI. We use pseudonymization by default, cryptographic SHA-256 consent hashes, and immutable audit logs for regulatory readiness. We also respect intellectual property by using open-access cognitive paradigms rather than pirating proprietary clinical tests, while offering integration fields for certified clinicians to record external MoCA scores. Finally, accessibility options ensure older adults can comfortably interact with the platform.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a:t>
            </a:r>
          </a:p>
          <a:p>
            <a:r>
              <a:t>MindBridge AI occupies a unique position. Unlike annual paper tests that provide coarse snapshots, our platform captures millisecond latency trends and provides continuous longitudinal insight. Unlike expensive proprietary black-box research suites, our architecture utilizes open cognitive paradigms, transparent Exasol SQL schemas, and audited machine learning, offering high clinical value at accessible cost.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a:t>
            </a:r>
          </a:p>
          <a:p>
            <a:r>
              <a:t>Our roadmap defines a clear, responsible pathway forward. Phase 1 is complete: the core platform, 5 tasks, Exasol client, scoring engine, and 11 unit tests are verified. Phase 2 will validate usability and touch ergonomics among older adults. Phase 3 proposes a multi-site academic longitudinal research cohort tracking 500 individuals, and Phase 4 will evaluate clinical triage integration with hospital EHRs.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a:t>
            </a:r>
          </a:p>
          <a:p>
            <a:r>
              <a:t>In closing, MindBridge AI bridges the gap between raw computerized psychometrics, high-performance database analytics, and human clinical care. By grounding our technology in safety, transparent fallback modes, and audited demographic fairness, we make cognitive tracking understandable, dignified, and actionable. We welcome academic, clinical, and database technology partnerships. Thank you very much, and we invite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914400"/>
            <a:ext cx="1371600" cy="508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10698480" cy="1645920"/>
          </a:xfrm>
          <a:prstGeom prst="rect">
            <a:avLst/>
          </a:prstGeom>
          <a:noFill/>
        </p:spPr>
        <p:txBody>
          <a:bodyPr wrap="square">
            <a:spAutoFit/>
          </a:bodyPr>
          <a:lstStyle/>
          <a:p>
            <a:pPr>
              <a:defRPr sz="4400" b="1">
                <a:solidFill>
                  <a:srgbClr val="F8FAFC"/>
                </a:solidFill>
                <a:latin typeface="Segoe UI"/>
              </a:defRPr>
            </a:pPr>
            <a:r>
              <a:t>MindBridge AI</a:t>
            </a:r>
          </a:p>
          <a:p>
            <a:pPr>
              <a:defRPr sz="2200">
                <a:solidFill>
                  <a:srgbClr val="A5B4FC"/>
                </a:solidFill>
                <a:latin typeface="Segoe UI"/>
              </a:defRPr>
            </a:pPr>
            <a:r>
              <a:t>Cognitive Screening Support &amp; Longitudinal Monitoring</a:t>
            </a:r>
          </a:p>
        </p:txBody>
      </p:sp>
      <p:sp>
        <p:nvSpPr>
          <p:cNvPr id="5" name="TextBox 4"/>
          <p:cNvSpPr txBox="1"/>
          <p:nvPr/>
        </p:nvSpPr>
        <p:spPr>
          <a:xfrm>
            <a:off x="731520" y="2834640"/>
            <a:ext cx="10698480" cy="914400"/>
          </a:xfrm>
          <a:prstGeom prst="rect">
            <a:avLst/>
          </a:prstGeom>
          <a:noFill/>
        </p:spPr>
        <p:txBody>
          <a:bodyPr wrap="square">
            <a:spAutoFit/>
          </a:bodyPr>
          <a:lstStyle/>
          <a:p>
            <a:pPr>
              <a:defRPr sz="1400">
                <a:solidFill>
                  <a:srgbClr val="94A3B8"/>
                </a:solidFill>
                <a:latin typeface="Segoe UI"/>
              </a:defRPr>
            </a:pPr>
            <a:r>
              <a:t>A high-performance research platform combining computerized psychometric tasks, normative demographic adjustments, Exasol Personal columnar analytics, and fairness-audited machine learning.</a:t>
            </a:r>
          </a:p>
        </p:txBody>
      </p:sp>
      <p:sp>
        <p:nvSpPr>
          <p:cNvPr id="6" name="Rounded Rectangle 5"/>
          <p:cNvSpPr/>
          <p:nvPr/>
        </p:nvSpPr>
        <p:spPr>
          <a:xfrm>
            <a:off x="731520" y="3840480"/>
            <a:ext cx="3474720" cy="1371600"/>
          </a:xfrm>
          <a:prstGeom prst="roundRect">
            <a:avLst/>
          </a:prstGeom>
          <a:solidFill>
            <a:srgbClr val="182038"/>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931920"/>
            <a:ext cx="3108960" cy="1188720"/>
          </a:xfrm>
          <a:prstGeom prst="rect">
            <a:avLst/>
          </a:prstGeom>
          <a:noFill/>
        </p:spPr>
        <p:txBody>
          <a:bodyPr wrap="square">
            <a:spAutoFit/>
          </a:bodyPr>
          <a:lstStyle/>
          <a:p>
            <a:pPr>
              <a:defRPr sz="1100" b="1">
                <a:solidFill>
                  <a:srgbClr val="14B8A6"/>
                </a:solidFill>
                <a:latin typeface="Segoe UI"/>
              </a:defRPr>
            </a:pPr>
            <a:r>
              <a:t>COMPUTERIZED BATTERY</a:t>
            </a:r>
          </a:p>
          <a:p>
            <a:pPr>
              <a:defRPr sz="1100">
                <a:solidFill>
                  <a:srgbClr val="F8FAFC"/>
                </a:solidFill>
                <a:latin typeface="Segoe UI"/>
              </a:defRPr>
            </a:pPr>
            <a:r>
              <a:t>5 Millisecond-Precision Tasks</a:t>
            </a:r>
            <a:br/>
            <a:r>
              <a:t>Verbal Recall, Digit Span, Stroop &amp; Trail B</a:t>
            </a:r>
          </a:p>
        </p:txBody>
      </p:sp>
      <p:sp>
        <p:nvSpPr>
          <p:cNvPr id="8" name="Rounded Rectangle 7"/>
          <p:cNvSpPr/>
          <p:nvPr/>
        </p:nvSpPr>
        <p:spPr>
          <a:xfrm>
            <a:off x="4343400" y="3840480"/>
            <a:ext cx="3474720" cy="1371600"/>
          </a:xfrm>
          <a:prstGeom prst="roundRect">
            <a:avLst/>
          </a:prstGeom>
          <a:solidFill>
            <a:srgbClr val="182038"/>
          </a:solidFill>
          <a:ln w="12700">
            <a:solidFill>
              <a:srgbClr val="A5B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3931920"/>
            <a:ext cx="3108960" cy="1188720"/>
          </a:xfrm>
          <a:prstGeom prst="rect">
            <a:avLst/>
          </a:prstGeom>
          <a:noFill/>
        </p:spPr>
        <p:txBody>
          <a:bodyPr wrap="square">
            <a:spAutoFit/>
          </a:bodyPr>
          <a:lstStyle/>
          <a:p>
            <a:pPr>
              <a:defRPr sz="1100" b="1">
                <a:solidFill>
                  <a:srgbClr val="A5B4FC"/>
                </a:solidFill>
                <a:latin typeface="Segoe UI"/>
              </a:defRPr>
            </a:pPr>
            <a:r>
              <a:t>EXASOL PERSONAL</a:t>
            </a:r>
          </a:p>
          <a:p>
            <a:pPr>
              <a:defRPr sz="1100">
                <a:solidFill>
                  <a:srgbClr val="F8FAFC"/>
                </a:solidFill>
                <a:latin typeface="Segoe UI"/>
              </a:defRPr>
            </a:pPr>
            <a:r>
              <a:t>High-Performance Columnar SQL</a:t>
            </a:r>
            <a:br/>
            <a:r>
              <a:t>Longitudinal Time-Series &amp; Patient Trajectories</a:t>
            </a:r>
          </a:p>
        </p:txBody>
      </p:sp>
      <p:sp>
        <p:nvSpPr>
          <p:cNvPr id="10" name="Rounded Rectangle 9"/>
          <p:cNvSpPr/>
          <p:nvPr/>
        </p:nvSpPr>
        <p:spPr>
          <a:xfrm>
            <a:off x="7955280" y="3840480"/>
            <a:ext cx="3474720" cy="1371600"/>
          </a:xfrm>
          <a:prstGeom prst="roundRect">
            <a:avLst/>
          </a:prstGeom>
          <a:solidFill>
            <a:srgbClr val="182038"/>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60" y="3931920"/>
            <a:ext cx="3108960" cy="1188720"/>
          </a:xfrm>
          <a:prstGeom prst="rect">
            <a:avLst/>
          </a:prstGeom>
          <a:noFill/>
        </p:spPr>
        <p:txBody>
          <a:bodyPr wrap="square">
            <a:spAutoFit/>
          </a:bodyPr>
          <a:lstStyle/>
          <a:p>
            <a:pPr>
              <a:defRPr sz="1100" b="1">
                <a:solidFill>
                  <a:srgbClr val="F59E0B"/>
                </a:solidFill>
                <a:latin typeface="Segoe UI"/>
              </a:defRPr>
            </a:pPr>
            <a:r>
              <a:t>RESPONSIBLE AI</a:t>
            </a:r>
          </a:p>
          <a:p>
            <a:pPr>
              <a:defRPr sz="1100">
                <a:solidFill>
                  <a:srgbClr val="F8FAFC"/>
                </a:solidFill>
                <a:latin typeface="Segoe UI"/>
              </a:defRPr>
            </a:pPr>
            <a:r>
              <a:t>Calibrated Machine Learning</a:t>
            </a:r>
            <a:br/>
            <a:r>
              <a:t>Audited Demographic Subgroup Fairness</a:t>
            </a:r>
          </a:p>
        </p:txBody>
      </p:sp>
      <p:sp>
        <p:nvSpPr>
          <p:cNvPr id="12" name="Rounded Rectangle 11"/>
          <p:cNvSpPr/>
          <p:nvPr/>
        </p:nvSpPr>
        <p:spPr>
          <a:xfrm>
            <a:off x="731520" y="5486400"/>
            <a:ext cx="10728655" cy="822960"/>
          </a:xfrm>
          <a:prstGeom prst="roundRect">
            <a:avLst/>
          </a:prstGeom>
          <a:solidFill>
            <a:srgbClr val="1E141E"/>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532120"/>
            <a:ext cx="10332720" cy="731520"/>
          </a:xfrm>
          <a:prstGeom prst="rect">
            <a:avLst/>
          </a:prstGeom>
          <a:noFill/>
        </p:spPr>
        <p:txBody>
          <a:bodyPr wrap="square">
            <a:spAutoFit/>
          </a:bodyPr>
          <a:lstStyle/>
          <a:p>
            <a:pPr>
              <a:defRPr sz="1000" b="1">
                <a:solidFill>
                  <a:srgbClr val="F43F5E"/>
                </a:solidFill>
                <a:latin typeface="Segoe UI"/>
              </a:defRPr>
            </a:pPr>
            <a:r>
              <a:t>MANDATORY REGULATORY BOUNDARY &amp; INVESTIGATIONAL DISCLOSURE:</a:t>
            </a:r>
          </a:p>
          <a:p>
            <a:pPr>
              <a:defRPr sz="950">
                <a:solidFill>
                  <a:srgbClr val="94A3B8"/>
                </a:solidFill>
                <a:latin typeface="Segoe UI"/>
              </a:defRPr>
            </a:pPr>
            <a:r>
              <a:t>MindBridge AI is an investigational cognitive screening and research instrument, NOT an autonomous medical diagnostic device. It does not diagnose Alzheimer's disease, Mild Cognitive Impairment (MCI), or dementia. All predictive model scores represent normative research indicators to assist qualified medical professionals.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011680" cy="320040"/>
          </a:xfrm>
          <a:prstGeom prst="roundRect">
            <a:avLst/>
          </a:prstGeom>
          <a:solidFill>
            <a:srgbClr val="1C2541"/>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4B8A6"/>
                </a:solidFill>
                <a:latin typeface="Segoe UI"/>
              </a:defRPr>
            </a:pPr>
            <a:r>
              <a:t>THE CLINICAL CHALLENGE</a:t>
            </a:r>
          </a:p>
        </p:txBody>
      </p:sp>
      <p:sp>
        <p:nvSpPr>
          <p:cNvPr id="4" name="TextBox 3"/>
          <p:cNvSpPr txBox="1"/>
          <p:nvPr/>
        </p:nvSpPr>
        <p:spPr>
          <a:xfrm>
            <a:off x="731520" y="822960"/>
            <a:ext cx="10698480" cy="548640"/>
          </a:xfrm>
          <a:prstGeom prst="rect">
            <a:avLst/>
          </a:prstGeom>
          <a:noFill/>
        </p:spPr>
        <p:txBody>
          <a:bodyPr wrap="square">
            <a:spAutoFit/>
          </a:bodyPr>
          <a:lstStyle/>
          <a:p>
            <a:pPr>
              <a:defRPr sz="2400" b="1">
                <a:solidFill>
                  <a:srgbClr val="F8FAFC"/>
                </a:solidFill>
                <a:latin typeface="Segoe UI"/>
              </a:defRPr>
            </a:pPr>
            <a:r>
              <a:t>The Limitations of Episodic Cognitive Assessment</a:t>
            </a:r>
          </a:p>
        </p:txBody>
      </p:sp>
      <p:sp>
        <p:nvSpPr>
          <p:cNvPr id="5" name="TextBox 4"/>
          <p:cNvSpPr txBox="1"/>
          <p:nvPr/>
        </p:nvSpPr>
        <p:spPr>
          <a:xfrm>
            <a:off x="731520" y="1325880"/>
            <a:ext cx="10698480" cy="365760"/>
          </a:xfrm>
          <a:prstGeom prst="rect">
            <a:avLst/>
          </a:prstGeom>
          <a:noFill/>
        </p:spPr>
        <p:txBody>
          <a:bodyPr wrap="square">
            <a:spAutoFit/>
          </a:bodyPr>
          <a:lstStyle/>
          <a:p>
            <a:pPr>
              <a:defRPr sz="1200">
                <a:solidFill>
                  <a:srgbClr val="94A3B8"/>
                </a:solidFill>
                <a:latin typeface="Segoe UI"/>
              </a:defRPr>
            </a:pPr>
            <a:r>
              <a:t>Tracking cognitive health over time requires continuous precision, yet clinical care relies on infrequent, coarse paper tests.</a:t>
            </a:r>
          </a:p>
        </p:txBody>
      </p:sp>
      <p:sp>
        <p:nvSpPr>
          <p:cNvPr id="6" name="Rectangle 5"/>
          <p:cNvSpPr/>
          <p:nvPr/>
        </p:nvSpPr>
        <p:spPr>
          <a:xfrm>
            <a:off x="731520" y="6400800"/>
            <a:ext cx="10728655" cy="12700"/>
          </a:xfrm>
          <a:prstGeom prst="rect">
            <a:avLst/>
          </a:prstGeom>
          <a:solidFill>
            <a:srgbClr val="2E3D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686800" cy="320040"/>
          </a:xfrm>
          <a:prstGeom prst="rect">
            <a:avLst/>
          </a:prstGeom>
          <a:noFill/>
        </p:spPr>
        <p:txBody>
          <a:bodyPr wrap="none">
            <a:spAutoFit/>
          </a:bodyPr>
          <a:lstStyle/>
          <a:p>
            <a:pPr>
              <a:defRPr sz="900">
                <a:solidFill>
                  <a:srgbClr val="94A3B8"/>
                </a:solidFill>
                <a:latin typeface="Segoe UI"/>
              </a:defRPr>
            </a:pPr>
            <a:r>
              <a:t>MindBridge AI • Investigational Cognitive Screening Platform • IRB Protocol MB-2026 • Non-Diagnostic</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00" b="1">
                <a:solidFill>
                  <a:srgbClr val="A5B4FC"/>
                </a:solidFill>
                <a:latin typeface="Segoe UI"/>
              </a:defRPr>
            </a:pPr>
            <a:r>
              <a:t>2 / 12</a:t>
            </a:r>
          </a:p>
        </p:txBody>
      </p:sp>
      <p:sp>
        <p:nvSpPr>
          <p:cNvPr id="9" name="Rounded Rectangle 8"/>
          <p:cNvSpPr/>
          <p:nvPr/>
        </p:nvSpPr>
        <p:spPr>
          <a:xfrm>
            <a:off x="731520" y="1828800"/>
            <a:ext cx="3474720" cy="3291840"/>
          </a:xfrm>
          <a:prstGeom prst="roundRect">
            <a:avLst/>
          </a:prstGeom>
          <a:solidFill>
            <a:srgbClr val="182038"/>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011680"/>
            <a:ext cx="3017520" cy="2926080"/>
          </a:xfrm>
          <a:prstGeom prst="rect">
            <a:avLst/>
          </a:prstGeom>
          <a:noFill/>
        </p:spPr>
        <p:txBody>
          <a:bodyPr wrap="square">
            <a:spAutoFit/>
          </a:bodyPr>
          <a:lstStyle/>
          <a:p>
            <a:pPr>
              <a:defRPr sz="1400" b="1">
                <a:solidFill>
                  <a:srgbClr val="F43F5E"/>
                </a:solidFill>
                <a:latin typeface="Segoe UI"/>
              </a:defRPr>
            </a:pPr>
            <a:r>
              <a:t>1. Coarse Snapshots Miss Trajectories</a:t>
            </a:r>
          </a:p>
          <a:p>
            <a:pPr>
              <a:defRPr sz="1150">
                <a:solidFill>
                  <a:srgbClr val="F8FAFC"/>
                </a:solidFill>
                <a:latin typeface="Segoe UI"/>
              </a:defRPr>
            </a:pPr>
            <a:r>
              <a:t>Traditional paper screenings (MMSE, MoCA) are administered annually or bi-annually. Single-point snapshots cannot distinguish temporary fatigue from true longitudinal neurodegenerative decline.</a:t>
            </a:r>
          </a:p>
        </p:txBody>
      </p:sp>
      <p:sp>
        <p:nvSpPr>
          <p:cNvPr id="11" name="Rounded Rectangle 10"/>
          <p:cNvSpPr/>
          <p:nvPr/>
        </p:nvSpPr>
        <p:spPr>
          <a:xfrm>
            <a:off x="4343400" y="1828800"/>
            <a:ext cx="3474720" cy="3291840"/>
          </a:xfrm>
          <a:prstGeom prst="roundRect">
            <a:avLst/>
          </a:prstGeom>
          <a:solidFill>
            <a:srgbClr val="182038"/>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2011680"/>
            <a:ext cx="3017520" cy="2926080"/>
          </a:xfrm>
          <a:prstGeom prst="rect">
            <a:avLst/>
          </a:prstGeom>
          <a:noFill/>
        </p:spPr>
        <p:txBody>
          <a:bodyPr wrap="square">
            <a:spAutoFit/>
          </a:bodyPr>
          <a:lstStyle/>
          <a:p>
            <a:pPr>
              <a:defRPr sz="1400" b="1">
                <a:solidFill>
                  <a:srgbClr val="F59E0B"/>
                </a:solidFill>
                <a:latin typeface="Segoe UI"/>
              </a:defRPr>
            </a:pPr>
            <a:r>
              <a:t>2. Reaction Time Latency Blindness</a:t>
            </a:r>
          </a:p>
          <a:p>
            <a:pPr>
              <a:defRPr sz="1150">
                <a:solidFill>
                  <a:srgbClr val="F8FAFC"/>
                </a:solidFill>
                <a:latin typeface="Segoe UI"/>
              </a:defRPr>
            </a:pPr>
            <a:r>
              <a:t>Paper-and-pencil tests cannot measure millisecond-level processing latency or task-switching micro-delays—the exact psychometric markers that manifest earliest in executive function decline.</a:t>
            </a:r>
          </a:p>
        </p:txBody>
      </p:sp>
      <p:sp>
        <p:nvSpPr>
          <p:cNvPr id="13" name="Rounded Rectangle 12"/>
          <p:cNvSpPr/>
          <p:nvPr/>
        </p:nvSpPr>
        <p:spPr>
          <a:xfrm>
            <a:off x="7955280" y="1828800"/>
            <a:ext cx="3474720" cy="3291840"/>
          </a:xfrm>
          <a:prstGeom prst="roundRect">
            <a:avLst/>
          </a:prstGeom>
          <a:solidFill>
            <a:srgbClr val="182038"/>
          </a:solidFill>
          <a:ln w="12700">
            <a:solidFill>
              <a:srgbClr val="A5B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83880" y="2011680"/>
            <a:ext cx="3017520" cy="2926080"/>
          </a:xfrm>
          <a:prstGeom prst="rect">
            <a:avLst/>
          </a:prstGeom>
          <a:noFill/>
        </p:spPr>
        <p:txBody>
          <a:bodyPr wrap="square">
            <a:spAutoFit/>
          </a:bodyPr>
          <a:lstStyle/>
          <a:p>
            <a:pPr>
              <a:defRPr sz="1400" b="1">
                <a:solidFill>
                  <a:srgbClr val="A5B4FC"/>
                </a:solidFill>
                <a:latin typeface="Segoe UI"/>
              </a:defRPr>
            </a:pPr>
            <a:r>
              <a:t>3. Demographic &amp; Education Bias</a:t>
            </a:r>
          </a:p>
          <a:p>
            <a:pPr>
              <a:defRPr sz="1150">
                <a:solidFill>
                  <a:srgbClr val="F8FAFC"/>
                </a:solidFill>
                <a:latin typeface="Segoe UI"/>
              </a:defRPr>
            </a:pPr>
            <a:r>
              <a:t>Standardized score cutoffs often fail to calibrate for years of formal education or age brackets, leading to misclassification risks and disparities in underserved patient cohorts.</a:t>
            </a:r>
          </a:p>
        </p:txBody>
      </p:sp>
      <p:sp>
        <p:nvSpPr>
          <p:cNvPr id="15" name="Rounded Rectangle 14"/>
          <p:cNvSpPr/>
          <p:nvPr/>
        </p:nvSpPr>
        <p:spPr>
          <a:xfrm>
            <a:off x="731520" y="5303520"/>
            <a:ext cx="10728655" cy="914400"/>
          </a:xfrm>
          <a:prstGeom prst="roundRect">
            <a:avLst/>
          </a:prstGeom>
          <a:solidFill>
            <a:srgbClr val="182038"/>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394960"/>
            <a:ext cx="10332720" cy="731520"/>
          </a:xfrm>
          <a:prstGeom prst="rect">
            <a:avLst/>
          </a:prstGeom>
          <a:noFill/>
        </p:spPr>
        <p:txBody>
          <a:bodyPr wrap="square">
            <a:spAutoFit/>
          </a:bodyPr>
          <a:lstStyle/>
          <a:p>
            <a:pPr>
              <a:defRPr sz="1100" b="1">
                <a:solidFill>
                  <a:srgbClr val="14B8A6"/>
                </a:solidFill>
                <a:latin typeface="Segoe UI"/>
              </a:defRPr>
            </a:pPr>
            <a:r>
              <a:t>CLINICAL INSIGHT: Longitudinal Variance Precedes Overt Symptoms</a:t>
            </a:r>
          </a:p>
          <a:p>
            <a:pPr>
              <a:defRPr sz="1050">
                <a:solidFill>
                  <a:srgbClr val="F8FAFC"/>
                </a:solidFill>
                <a:latin typeface="Segoe UI"/>
              </a:defRPr>
            </a:pPr>
            <a:r>
              <a:t>Alzheimer's pathology develops 15–20 years prior to clinical symptoms. Current clinical monitoring remains reactive, infrequent, and unequipped to capture continuous psychometric trends at population scale.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011680" cy="320040"/>
          </a:xfrm>
          <a:prstGeom prst="roundRect">
            <a:avLst/>
          </a:prstGeom>
          <a:solidFill>
            <a:srgbClr val="1C2541"/>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4B8A6"/>
                </a:solidFill>
                <a:latin typeface="Segoe UI"/>
              </a:defRPr>
            </a:pPr>
            <a:r>
              <a:t>PROPOSED SOLUTION</a:t>
            </a:r>
          </a:p>
        </p:txBody>
      </p:sp>
      <p:sp>
        <p:nvSpPr>
          <p:cNvPr id="4" name="TextBox 3"/>
          <p:cNvSpPr txBox="1"/>
          <p:nvPr/>
        </p:nvSpPr>
        <p:spPr>
          <a:xfrm>
            <a:off x="731520" y="822960"/>
            <a:ext cx="10698480" cy="548640"/>
          </a:xfrm>
          <a:prstGeom prst="rect">
            <a:avLst/>
          </a:prstGeom>
          <a:noFill/>
        </p:spPr>
        <p:txBody>
          <a:bodyPr wrap="square">
            <a:spAutoFit/>
          </a:bodyPr>
          <a:lstStyle/>
          <a:p>
            <a:pPr>
              <a:defRPr sz="2400" b="1">
                <a:solidFill>
                  <a:srgbClr val="F8FAFC"/>
                </a:solidFill>
                <a:latin typeface="Segoe UI"/>
              </a:defRPr>
            </a:pPr>
            <a:r>
              <a:t>MindBridge AI: Precision Cognitive Health Architecture</a:t>
            </a:r>
          </a:p>
        </p:txBody>
      </p:sp>
      <p:sp>
        <p:nvSpPr>
          <p:cNvPr id="5" name="TextBox 4"/>
          <p:cNvSpPr txBox="1"/>
          <p:nvPr/>
        </p:nvSpPr>
        <p:spPr>
          <a:xfrm>
            <a:off x="731520" y="1325880"/>
            <a:ext cx="10698480" cy="365760"/>
          </a:xfrm>
          <a:prstGeom prst="rect">
            <a:avLst/>
          </a:prstGeom>
          <a:noFill/>
        </p:spPr>
        <p:txBody>
          <a:bodyPr wrap="square">
            <a:spAutoFit/>
          </a:bodyPr>
          <a:lstStyle/>
          <a:p>
            <a:pPr>
              <a:defRPr sz="1200">
                <a:solidFill>
                  <a:srgbClr val="94A3B8"/>
                </a:solidFill>
                <a:latin typeface="Segoe UI"/>
              </a:defRPr>
            </a:pPr>
            <a:r>
              <a:t>A connected triad: computerized psychometrics, high-performance columnar storage, and responsible clinical AI.</a:t>
            </a:r>
          </a:p>
        </p:txBody>
      </p:sp>
      <p:sp>
        <p:nvSpPr>
          <p:cNvPr id="6" name="Rectangle 5"/>
          <p:cNvSpPr/>
          <p:nvPr/>
        </p:nvSpPr>
        <p:spPr>
          <a:xfrm>
            <a:off x="731520" y="6400800"/>
            <a:ext cx="10728655" cy="12700"/>
          </a:xfrm>
          <a:prstGeom prst="rect">
            <a:avLst/>
          </a:prstGeom>
          <a:solidFill>
            <a:srgbClr val="2E3D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686800" cy="320040"/>
          </a:xfrm>
          <a:prstGeom prst="rect">
            <a:avLst/>
          </a:prstGeom>
          <a:noFill/>
        </p:spPr>
        <p:txBody>
          <a:bodyPr wrap="none">
            <a:spAutoFit/>
          </a:bodyPr>
          <a:lstStyle/>
          <a:p>
            <a:pPr>
              <a:defRPr sz="900">
                <a:solidFill>
                  <a:srgbClr val="94A3B8"/>
                </a:solidFill>
                <a:latin typeface="Segoe UI"/>
              </a:defRPr>
            </a:pPr>
            <a:r>
              <a:t>MindBridge AI • Investigational Cognitive Screening Platform • IRB Protocol MB-2026 • Non-Diagnostic</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00" b="1">
                <a:solidFill>
                  <a:srgbClr val="A5B4FC"/>
                </a:solidFill>
                <a:latin typeface="Segoe UI"/>
              </a:defRPr>
            </a:pPr>
            <a:r>
              <a:t>3 / 12</a:t>
            </a:r>
          </a:p>
        </p:txBody>
      </p:sp>
      <p:sp>
        <p:nvSpPr>
          <p:cNvPr id="9" name="Rounded Rectangle 8"/>
          <p:cNvSpPr/>
          <p:nvPr/>
        </p:nvSpPr>
        <p:spPr>
          <a:xfrm>
            <a:off x="731520" y="1828800"/>
            <a:ext cx="3474720" cy="4389120"/>
          </a:xfrm>
          <a:prstGeom prst="roundRect">
            <a:avLst/>
          </a:prstGeom>
          <a:solidFill>
            <a:srgbClr val="182038"/>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011680"/>
            <a:ext cx="3017520" cy="4023360"/>
          </a:xfrm>
          <a:prstGeom prst="rect">
            <a:avLst/>
          </a:prstGeom>
          <a:noFill/>
        </p:spPr>
        <p:txBody>
          <a:bodyPr wrap="square">
            <a:spAutoFit/>
          </a:bodyPr>
          <a:lstStyle/>
          <a:p>
            <a:pPr>
              <a:defRPr sz="1500" b="1">
                <a:solidFill>
                  <a:srgbClr val="14B8A6"/>
                </a:solidFill>
                <a:latin typeface="Segoe UI"/>
              </a:defRPr>
            </a:pPr>
            <a:r>
              <a:t>Interactive Cognitive Battery</a:t>
            </a:r>
          </a:p>
          <a:p>
            <a:pPr>
              <a:defRPr sz="1100">
                <a:solidFill>
                  <a:srgbClr val="F8FAFC"/>
                </a:solidFill>
                <a:latin typeface="Segoe UI"/>
              </a:defRPr>
            </a:pPr>
            <a:r>
              <a:t>5 computerized, open-access cognitive paradigms:</a:t>
            </a:r>
            <a:br/>
            <a:r>
              <a:t>• Word Recall (Episodic verbal memory)</a:t>
            </a:r>
            <a:br/>
            <a:r>
              <a:t>• Adaptive Digit Span (Working memory)</a:t>
            </a:r>
            <a:br/>
            <a:r>
              <a:t>• Stroop Interference (Inhibitory control)</a:t>
            </a:r>
            <a:br/>
            <a:r>
              <a:t>• Trail Making B (Task switching)</a:t>
            </a:r>
            <a:br/>
            <a:r>
              <a:t>• Semantic Fluency (Lexical retrieval)</a:t>
            </a:r>
            <a:br/>
            <a:r>
              <a:t>Millisecond reaction time capture on any device.</a:t>
            </a:r>
          </a:p>
        </p:txBody>
      </p:sp>
      <p:sp>
        <p:nvSpPr>
          <p:cNvPr id="11" name="Rounded Rectangle 10"/>
          <p:cNvSpPr/>
          <p:nvPr/>
        </p:nvSpPr>
        <p:spPr>
          <a:xfrm>
            <a:off x="4343400" y="1828800"/>
            <a:ext cx="3474720" cy="4389120"/>
          </a:xfrm>
          <a:prstGeom prst="roundRect">
            <a:avLst/>
          </a:prstGeom>
          <a:solidFill>
            <a:srgbClr val="182038"/>
          </a:solidFill>
          <a:ln w="12700">
            <a:solidFill>
              <a:srgbClr val="A5B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2011680"/>
            <a:ext cx="3017520" cy="4023360"/>
          </a:xfrm>
          <a:prstGeom prst="rect">
            <a:avLst/>
          </a:prstGeom>
          <a:noFill/>
        </p:spPr>
        <p:txBody>
          <a:bodyPr wrap="square">
            <a:spAutoFit/>
          </a:bodyPr>
          <a:lstStyle/>
          <a:p>
            <a:pPr>
              <a:defRPr sz="1500" b="1">
                <a:solidFill>
                  <a:srgbClr val="A5B4FC"/>
                </a:solidFill>
                <a:latin typeface="Segoe UI"/>
              </a:defRPr>
            </a:pPr>
            <a:r>
              <a:t>Exasol Personal Engine</a:t>
            </a:r>
          </a:p>
          <a:p>
            <a:pPr>
              <a:defRPr sz="1100">
                <a:solidFill>
                  <a:srgbClr val="F8FAFC"/>
                </a:solidFill>
                <a:latin typeface="Segoe UI"/>
              </a:defRPr>
            </a:pPr>
            <a:r>
              <a:t>High-performance in-memory columnar database:</a:t>
            </a:r>
            <a:br/>
            <a:r>
              <a:t>• Microsecond SQL aggregations across trials</a:t>
            </a:r>
            <a:br/>
            <a:r>
              <a:t>• Longitudinal multi-session trend modeling</a:t>
            </a:r>
            <a:br/>
            <a:r>
              <a:t>• Instant normative Z-score calculation</a:t>
            </a:r>
            <a:br/>
            <a:r>
              <a:t>• Transparent fallback adapter with labeled synthetic development benchmarks.</a:t>
            </a:r>
          </a:p>
        </p:txBody>
      </p:sp>
      <p:sp>
        <p:nvSpPr>
          <p:cNvPr id="13" name="Rounded Rectangle 12"/>
          <p:cNvSpPr/>
          <p:nvPr/>
        </p:nvSpPr>
        <p:spPr>
          <a:xfrm>
            <a:off x="7955280" y="1828800"/>
            <a:ext cx="3474720" cy="4389120"/>
          </a:xfrm>
          <a:prstGeom prst="roundRect">
            <a:avLst/>
          </a:prstGeom>
          <a:solidFill>
            <a:srgbClr val="182038"/>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83880" y="2011680"/>
            <a:ext cx="3017520" cy="4023360"/>
          </a:xfrm>
          <a:prstGeom prst="rect">
            <a:avLst/>
          </a:prstGeom>
          <a:noFill/>
        </p:spPr>
        <p:txBody>
          <a:bodyPr wrap="square">
            <a:spAutoFit/>
          </a:bodyPr>
          <a:lstStyle/>
          <a:p>
            <a:pPr>
              <a:defRPr sz="1500" b="1">
                <a:solidFill>
                  <a:srgbClr val="F59E0B"/>
                </a:solidFill>
                <a:latin typeface="Segoe UI"/>
              </a:defRPr>
            </a:pPr>
            <a:r>
              <a:t>Clinician-in-the-Loop &amp; ML</a:t>
            </a:r>
          </a:p>
          <a:p>
            <a:pPr>
              <a:defRPr sz="1100">
                <a:solidFill>
                  <a:srgbClr val="F8FAFC"/>
                </a:solidFill>
                <a:latin typeface="Segoe UI"/>
              </a:defRPr>
            </a:pPr>
            <a:r>
              <a:t>Responsible clinical support:</a:t>
            </a:r>
            <a:br/>
            <a:r>
              <a:t>• Demographically adjusted normative scoring</a:t>
            </a:r>
            <a:br/>
            <a:r>
              <a:t>• Calibrated Random Forest research classifier</a:t>
            </a:r>
            <a:br/>
            <a:r>
              <a:t>• Subgroup fairness audit across age cohorts</a:t>
            </a:r>
            <a:br/>
            <a:r>
              <a:t>• Exportable structured screening summaries for licensed healthcare professionals.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011680" cy="320040"/>
          </a:xfrm>
          <a:prstGeom prst="roundRect">
            <a:avLst/>
          </a:prstGeom>
          <a:solidFill>
            <a:srgbClr val="1C2541"/>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4B8A6"/>
                </a:solidFill>
                <a:latin typeface="Segoe UI"/>
              </a:defRPr>
            </a:pPr>
            <a:r>
              <a:t>VERIFIED PRODUCT WALKTHROUGH</a:t>
            </a:r>
          </a:p>
        </p:txBody>
      </p:sp>
      <p:sp>
        <p:nvSpPr>
          <p:cNvPr id="4" name="TextBox 3"/>
          <p:cNvSpPr txBox="1"/>
          <p:nvPr/>
        </p:nvSpPr>
        <p:spPr>
          <a:xfrm>
            <a:off x="731520" y="822960"/>
            <a:ext cx="10698480" cy="548640"/>
          </a:xfrm>
          <a:prstGeom prst="rect">
            <a:avLst/>
          </a:prstGeom>
          <a:noFill/>
        </p:spPr>
        <p:txBody>
          <a:bodyPr wrap="square">
            <a:spAutoFit/>
          </a:bodyPr>
          <a:lstStyle/>
          <a:p>
            <a:pPr>
              <a:defRPr sz="2400" b="1">
                <a:solidFill>
                  <a:srgbClr val="F8FAFC"/>
                </a:solidFill>
                <a:latin typeface="Segoe UI"/>
              </a:defRPr>
            </a:pPr>
            <a:r>
              <a:t>Actual Implemented Application Features</a:t>
            </a:r>
          </a:p>
        </p:txBody>
      </p:sp>
      <p:sp>
        <p:nvSpPr>
          <p:cNvPr id="5" name="TextBox 4"/>
          <p:cNvSpPr txBox="1"/>
          <p:nvPr/>
        </p:nvSpPr>
        <p:spPr>
          <a:xfrm>
            <a:off x="731520" y="1325880"/>
            <a:ext cx="10698480" cy="365760"/>
          </a:xfrm>
          <a:prstGeom prst="rect">
            <a:avLst/>
          </a:prstGeom>
          <a:noFill/>
        </p:spPr>
        <p:txBody>
          <a:bodyPr wrap="square">
            <a:spAutoFit/>
          </a:bodyPr>
          <a:lstStyle/>
          <a:p>
            <a:pPr>
              <a:defRPr sz="1200">
                <a:solidFill>
                  <a:srgbClr val="94A3B8"/>
                </a:solidFill>
                <a:latin typeface="Segoe UI"/>
              </a:defRPr>
            </a:pPr>
            <a:r>
              <a:t>Real screenshots captured directly from the running MindBridge AI platform.</a:t>
            </a:r>
          </a:p>
        </p:txBody>
      </p:sp>
      <p:sp>
        <p:nvSpPr>
          <p:cNvPr id="6" name="Rectangle 5"/>
          <p:cNvSpPr/>
          <p:nvPr/>
        </p:nvSpPr>
        <p:spPr>
          <a:xfrm>
            <a:off x="731520" y="6400800"/>
            <a:ext cx="10728655" cy="12700"/>
          </a:xfrm>
          <a:prstGeom prst="rect">
            <a:avLst/>
          </a:prstGeom>
          <a:solidFill>
            <a:srgbClr val="2E3D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686800" cy="320040"/>
          </a:xfrm>
          <a:prstGeom prst="rect">
            <a:avLst/>
          </a:prstGeom>
          <a:noFill/>
        </p:spPr>
        <p:txBody>
          <a:bodyPr wrap="none">
            <a:spAutoFit/>
          </a:bodyPr>
          <a:lstStyle/>
          <a:p>
            <a:pPr>
              <a:defRPr sz="900">
                <a:solidFill>
                  <a:srgbClr val="94A3B8"/>
                </a:solidFill>
                <a:latin typeface="Segoe UI"/>
              </a:defRPr>
            </a:pPr>
            <a:r>
              <a:t>MindBridge AI • Investigational Cognitive Screening Platform • IRB Protocol MB-2026 • Non-Diagnostic</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00" b="1">
                <a:solidFill>
                  <a:srgbClr val="A5B4FC"/>
                </a:solidFill>
                <a:latin typeface="Segoe UI"/>
              </a:defRPr>
            </a:pPr>
            <a:r>
              <a:t>4 / 12</a:t>
            </a:r>
          </a:p>
        </p:txBody>
      </p:sp>
      <p:sp>
        <p:nvSpPr>
          <p:cNvPr id="9" name="Rounded Rectangle 8"/>
          <p:cNvSpPr/>
          <p:nvPr/>
        </p:nvSpPr>
        <p:spPr>
          <a:xfrm>
            <a:off x="731520" y="1828800"/>
            <a:ext cx="5212080" cy="2148840"/>
          </a:xfrm>
          <a:prstGeom prst="roundRect">
            <a:avLst/>
          </a:prstGeom>
          <a:solidFill>
            <a:srgbClr val="182038"/>
          </a:solidFill>
          <a:ln w="12700">
            <a:solidFill>
              <a:srgbClr val="2E3D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1_landing.png"/>
          <p:cNvPicPr>
            <a:picLocks noChangeAspect="1"/>
          </p:cNvPicPr>
          <p:nvPr/>
        </p:nvPicPr>
        <p:blipFill>
          <a:blip r:embed="rId2"/>
          <a:stretch>
            <a:fillRect/>
          </a:stretch>
        </p:blipFill>
        <p:spPr>
          <a:xfrm>
            <a:off x="868680" y="1965960"/>
            <a:ext cx="2377440" cy="1828800"/>
          </a:xfrm>
          <a:prstGeom prst="rect">
            <a:avLst/>
          </a:prstGeom>
        </p:spPr>
      </p:pic>
      <p:sp>
        <p:nvSpPr>
          <p:cNvPr id="11" name="TextBox 10"/>
          <p:cNvSpPr txBox="1"/>
          <p:nvPr/>
        </p:nvSpPr>
        <p:spPr>
          <a:xfrm>
            <a:off x="3337560" y="2011680"/>
            <a:ext cx="2468880" cy="1737360"/>
          </a:xfrm>
          <a:prstGeom prst="rect">
            <a:avLst/>
          </a:prstGeom>
          <a:noFill/>
        </p:spPr>
        <p:txBody>
          <a:bodyPr wrap="square">
            <a:spAutoFit/>
          </a:bodyPr>
          <a:lstStyle/>
          <a:p>
            <a:pPr>
              <a:defRPr sz="1200" b="1">
                <a:solidFill>
                  <a:srgbClr val="A5B4FC"/>
                </a:solidFill>
                <a:latin typeface="Segoe UI"/>
              </a:defRPr>
            </a:pPr>
            <a:r>
              <a:t>Accessible Participant Portal</a:t>
            </a:r>
          </a:p>
          <a:p>
            <a:pPr>
              <a:defRPr sz="1000">
                <a:solidFill>
                  <a:srgbClr val="F8FAFC"/>
                </a:solidFill>
                <a:latin typeface="Segoe UI"/>
              </a:defRPr>
            </a:pPr>
            <a:r>
              <a:t>Accessible landing with WCAG dark mode, high-contrast toggle, tri-level text resizing, and IRB protocol disclosure.</a:t>
            </a:r>
          </a:p>
        </p:txBody>
      </p:sp>
      <p:sp>
        <p:nvSpPr>
          <p:cNvPr id="12" name="Rounded Rectangle 11"/>
          <p:cNvSpPr/>
          <p:nvPr/>
        </p:nvSpPr>
        <p:spPr>
          <a:xfrm>
            <a:off x="6217920" y="1828800"/>
            <a:ext cx="5212080" cy="2148840"/>
          </a:xfrm>
          <a:prstGeom prst="roundRect">
            <a:avLst/>
          </a:prstGeom>
          <a:solidFill>
            <a:srgbClr val="182038"/>
          </a:solidFill>
          <a:ln w="12700">
            <a:solidFill>
              <a:srgbClr val="2E3D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05_active_task.png"/>
          <p:cNvPicPr>
            <a:picLocks noChangeAspect="1"/>
          </p:cNvPicPr>
          <p:nvPr/>
        </p:nvPicPr>
        <p:blipFill>
          <a:blip r:embed="rId3"/>
          <a:stretch>
            <a:fillRect/>
          </a:stretch>
        </p:blipFill>
        <p:spPr>
          <a:xfrm>
            <a:off x="6355080" y="1965960"/>
            <a:ext cx="2377440" cy="1828800"/>
          </a:xfrm>
          <a:prstGeom prst="rect">
            <a:avLst/>
          </a:prstGeom>
        </p:spPr>
      </p:pic>
      <p:sp>
        <p:nvSpPr>
          <p:cNvPr id="14" name="TextBox 13"/>
          <p:cNvSpPr txBox="1"/>
          <p:nvPr/>
        </p:nvSpPr>
        <p:spPr>
          <a:xfrm>
            <a:off x="8823960" y="2011680"/>
            <a:ext cx="2468880" cy="1737360"/>
          </a:xfrm>
          <a:prstGeom prst="rect">
            <a:avLst/>
          </a:prstGeom>
          <a:noFill/>
        </p:spPr>
        <p:txBody>
          <a:bodyPr wrap="square">
            <a:spAutoFit/>
          </a:bodyPr>
          <a:lstStyle/>
          <a:p>
            <a:pPr>
              <a:defRPr sz="1200" b="1">
                <a:solidFill>
                  <a:srgbClr val="A5B4FC"/>
                </a:solidFill>
                <a:latin typeface="Segoe UI"/>
              </a:defRPr>
            </a:pPr>
            <a:r>
              <a:t>Interactive Cognitive Tasks</a:t>
            </a:r>
          </a:p>
          <a:p>
            <a:pPr>
              <a:defRPr sz="1000">
                <a:solidFill>
                  <a:srgbClr val="F8FAFC"/>
                </a:solidFill>
                <a:latin typeface="Segoe UI"/>
              </a:defRPr>
            </a:pPr>
            <a:r>
              <a:t>Active task runner capturing millisecond response latency, trial accuracy, and task-switching intervals.</a:t>
            </a:r>
          </a:p>
        </p:txBody>
      </p:sp>
      <p:sp>
        <p:nvSpPr>
          <p:cNvPr id="15" name="Rounded Rectangle 14"/>
          <p:cNvSpPr/>
          <p:nvPr/>
        </p:nvSpPr>
        <p:spPr>
          <a:xfrm>
            <a:off x="731520" y="4114800"/>
            <a:ext cx="5212080" cy="2148840"/>
          </a:xfrm>
          <a:prstGeom prst="roundRect">
            <a:avLst/>
          </a:prstGeom>
          <a:solidFill>
            <a:srgbClr val="182038"/>
          </a:solidFill>
          <a:ln w="12700">
            <a:solidFill>
              <a:srgbClr val="2E3D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06_participant_radar.png"/>
          <p:cNvPicPr>
            <a:picLocks noChangeAspect="1"/>
          </p:cNvPicPr>
          <p:nvPr/>
        </p:nvPicPr>
        <p:blipFill>
          <a:blip r:embed="rId4"/>
          <a:stretch>
            <a:fillRect/>
          </a:stretch>
        </p:blipFill>
        <p:spPr>
          <a:xfrm>
            <a:off x="868680" y="4251960"/>
            <a:ext cx="2377440" cy="1828800"/>
          </a:xfrm>
          <a:prstGeom prst="rect">
            <a:avLst/>
          </a:prstGeom>
        </p:spPr>
      </p:pic>
      <p:sp>
        <p:nvSpPr>
          <p:cNvPr id="17" name="TextBox 16"/>
          <p:cNvSpPr txBox="1"/>
          <p:nvPr/>
        </p:nvSpPr>
        <p:spPr>
          <a:xfrm>
            <a:off x="3337560" y="4297680"/>
            <a:ext cx="2468880" cy="1737360"/>
          </a:xfrm>
          <a:prstGeom prst="rect">
            <a:avLst/>
          </a:prstGeom>
          <a:noFill/>
        </p:spPr>
        <p:txBody>
          <a:bodyPr wrap="square">
            <a:spAutoFit/>
          </a:bodyPr>
          <a:lstStyle/>
          <a:p>
            <a:pPr>
              <a:defRPr sz="1200" b="1">
                <a:solidFill>
                  <a:srgbClr val="A5B4FC"/>
                </a:solidFill>
                <a:latin typeface="Segoe UI"/>
              </a:defRPr>
            </a:pPr>
            <a:r>
              <a:t>Plotly Normative Radar Profile</a:t>
            </a:r>
          </a:p>
          <a:p>
            <a:pPr>
              <a:defRPr sz="1000">
                <a:solidFill>
                  <a:srgbClr val="F8FAFC"/>
                </a:solidFill>
                <a:latin typeface="Segoe UI"/>
              </a:defRPr>
            </a:pPr>
            <a:r>
              <a:t>Multi-domain psychometric profile comparing individual performance against age- and education-matched norms.</a:t>
            </a:r>
          </a:p>
        </p:txBody>
      </p:sp>
      <p:sp>
        <p:nvSpPr>
          <p:cNvPr id="18" name="Rounded Rectangle 17"/>
          <p:cNvSpPr/>
          <p:nvPr/>
        </p:nvSpPr>
        <p:spPr>
          <a:xfrm>
            <a:off x="6217920" y="4114800"/>
            <a:ext cx="5212080" cy="2148840"/>
          </a:xfrm>
          <a:prstGeom prst="roundRect">
            <a:avLst/>
          </a:prstGeom>
          <a:solidFill>
            <a:srgbClr val="182038"/>
          </a:solidFill>
          <a:ln w="12700">
            <a:solidFill>
              <a:srgbClr val="2E3D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9_research_ml.png"/>
          <p:cNvPicPr>
            <a:picLocks noChangeAspect="1"/>
          </p:cNvPicPr>
          <p:nvPr/>
        </p:nvPicPr>
        <p:blipFill>
          <a:blip r:embed="rId5"/>
          <a:stretch>
            <a:fillRect/>
          </a:stretch>
        </p:blipFill>
        <p:spPr>
          <a:xfrm>
            <a:off x="6355080" y="4251960"/>
            <a:ext cx="2377440" cy="1828800"/>
          </a:xfrm>
          <a:prstGeom prst="rect">
            <a:avLst/>
          </a:prstGeom>
        </p:spPr>
      </p:pic>
      <p:sp>
        <p:nvSpPr>
          <p:cNvPr id="20" name="TextBox 19"/>
          <p:cNvSpPr txBox="1"/>
          <p:nvPr/>
        </p:nvSpPr>
        <p:spPr>
          <a:xfrm>
            <a:off x="8823960" y="4297680"/>
            <a:ext cx="2468880" cy="1737360"/>
          </a:xfrm>
          <a:prstGeom prst="rect">
            <a:avLst/>
          </a:prstGeom>
          <a:noFill/>
        </p:spPr>
        <p:txBody>
          <a:bodyPr wrap="square">
            <a:spAutoFit/>
          </a:bodyPr>
          <a:lstStyle/>
          <a:p>
            <a:pPr>
              <a:defRPr sz="1200" b="1">
                <a:solidFill>
                  <a:srgbClr val="A5B4FC"/>
                </a:solidFill>
                <a:latin typeface="Segoe UI"/>
              </a:defRPr>
            </a:pPr>
            <a:r>
              <a:t>Research ML &amp; Fairness Audit</a:t>
            </a:r>
          </a:p>
          <a:p>
            <a:pPr>
              <a:defRPr sz="1000">
                <a:solidFill>
                  <a:srgbClr val="F8FAFC"/>
                </a:solidFill>
                <a:latin typeface="Segoe UI"/>
              </a:defRPr>
            </a:pPr>
            <a:r>
              <a:t>Calibrated Random Forest model with ROC-AUC curve, Brier score, and automated age-subgroup fairness audit.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011680" cy="320040"/>
          </a:xfrm>
          <a:prstGeom prst="roundRect">
            <a:avLst/>
          </a:prstGeom>
          <a:solidFill>
            <a:srgbClr val="1C2541"/>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4B8A6"/>
                </a:solidFill>
                <a:latin typeface="Segoe UI"/>
              </a:defRPr>
            </a:pPr>
            <a:r>
              <a:t>USER JOURNEY</a:t>
            </a:r>
          </a:p>
        </p:txBody>
      </p:sp>
      <p:sp>
        <p:nvSpPr>
          <p:cNvPr id="4" name="TextBox 3"/>
          <p:cNvSpPr txBox="1"/>
          <p:nvPr/>
        </p:nvSpPr>
        <p:spPr>
          <a:xfrm>
            <a:off x="731520" y="822960"/>
            <a:ext cx="10698480" cy="548640"/>
          </a:xfrm>
          <a:prstGeom prst="rect">
            <a:avLst/>
          </a:prstGeom>
          <a:noFill/>
        </p:spPr>
        <p:txBody>
          <a:bodyPr wrap="square">
            <a:spAutoFit/>
          </a:bodyPr>
          <a:lstStyle/>
          <a:p>
            <a:pPr>
              <a:defRPr sz="2400" b="1">
                <a:solidFill>
                  <a:srgbClr val="F8FAFC"/>
                </a:solidFill>
                <a:latin typeface="Segoe UI"/>
              </a:defRPr>
            </a:pPr>
            <a:r>
              <a:t>The Six-Stage Participant &amp; Clinician Flow</a:t>
            </a:r>
          </a:p>
        </p:txBody>
      </p:sp>
      <p:sp>
        <p:nvSpPr>
          <p:cNvPr id="5" name="TextBox 4"/>
          <p:cNvSpPr txBox="1"/>
          <p:nvPr/>
        </p:nvSpPr>
        <p:spPr>
          <a:xfrm>
            <a:off x="731520" y="1325880"/>
            <a:ext cx="10698480" cy="365760"/>
          </a:xfrm>
          <a:prstGeom prst="rect">
            <a:avLst/>
          </a:prstGeom>
          <a:noFill/>
        </p:spPr>
        <p:txBody>
          <a:bodyPr wrap="square">
            <a:spAutoFit/>
          </a:bodyPr>
          <a:lstStyle/>
          <a:p>
            <a:pPr>
              <a:defRPr sz="1200">
                <a:solidFill>
                  <a:srgbClr val="94A3B8"/>
                </a:solidFill>
                <a:latin typeface="Segoe UI"/>
              </a:defRPr>
            </a:pPr>
            <a:r>
              <a:t>A structured, ethically governed path from informed consent to qualified medical consultation.</a:t>
            </a:r>
          </a:p>
        </p:txBody>
      </p:sp>
      <p:sp>
        <p:nvSpPr>
          <p:cNvPr id="6" name="Rectangle 5"/>
          <p:cNvSpPr/>
          <p:nvPr/>
        </p:nvSpPr>
        <p:spPr>
          <a:xfrm>
            <a:off x="731520" y="6400800"/>
            <a:ext cx="10728655" cy="12700"/>
          </a:xfrm>
          <a:prstGeom prst="rect">
            <a:avLst/>
          </a:prstGeom>
          <a:solidFill>
            <a:srgbClr val="2E3D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686800" cy="320040"/>
          </a:xfrm>
          <a:prstGeom prst="rect">
            <a:avLst/>
          </a:prstGeom>
          <a:noFill/>
        </p:spPr>
        <p:txBody>
          <a:bodyPr wrap="none">
            <a:spAutoFit/>
          </a:bodyPr>
          <a:lstStyle/>
          <a:p>
            <a:pPr>
              <a:defRPr sz="900">
                <a:solidFill>
                  <a:srgbClr val="94A3B8"/>
                </a:solidFill>
                <a:latin typeface="Segoe UI"/>
              </a:defRPr>
            </a:pPr>
            <a:r>
              <a:t>MindBridge AI • Investigational Cognitive Screening Platform • IRB Protocol MB-2026 • Non-Diagnostic</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00" b="1">
                <a:solidFill>
                  <a:srgbClr val="A5B4FC"/>
                </a:solidFill>
                <a:latin typeface="Segoe UI"/>
              </a:defRPr>
            </a:pPr>
            <a:r>
              <a:t>5 / 12</a:t>
            </a:r>
          </a:p>
        </p:txBody>
      </p:sp>
      <p:sp>
        <p:nvSpPr>
          <p:cNvPr id="9" name="Rounded Rectangle 8"/>
          <p:cNvSpPr/>
          <p:nvPr/>
        </p:nvSpPr>
        <p:spPr>
          <a:xfrm>
            <a:off x="731520" y="1920240"/>
            <a:ext cx="1645920" cy="4114800"/>
          </a:xfrm>
          <a:prstGeom prst="roundRect">
            <a:avLst/>
          </a:prstGeom>
          <a:solidFill>
            <a:srgbClr val="182038"/>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011680"/>
            <a:ext cx="1463040" cy="3840480"/>
          </a:xfrm>
          <a:prstGeom prst="rect">
            <a:avLst/>
          </a:prstGeom>
          <a:noFill/>
        </p:spPr>
        <p:txBody>
          <a:bodyPr wrap="square">
            <a:spAutoFit/>
          </a:bodyPr>
          <a:lstStyle/>
          <a:p>
            <a:pPr>
              <a:defRPr sz="1200" b="1">
                <a:solidFill>
                  <a:srgbClr val="14B8A6"/>
                </a:solidFill>
                <a:latin typeface="Segoe UI"/>
              </a:defRPr>
            </a:pPr>
            <a:r>
              <a:t>1. Informed Consent</a:t>
            </a:r>
          </a:p>
          <a:p>
            <a:pPr>
              <a:defRPr sz="1000">
                <a:solidFill>
                  <a:srgbClr val="F8FAFC"/>
                </a:solidFill>
                <a:latin typeface="Segoe UI"/>
              </a:defRPr>
            </a:pPr>
            <a:r>
              <a:t>Participant reviews IRB MB-2026, enters demographics, and generates cryptographic SHA-256 consent hash.</a:t>
            </a:r>
          </a:p>
        </p:txBody>
      </p:sp>
      <p:sp>
        <p:nvSpPr>
          <p:cNvPr id="11" name="Rounded Rectangle 10"/>
          <p:cNvSpPr/>
          <p:nvPr/>
        </p:nvSpPr>
        <p:spPr>
          <a:xfrm>
            <a:off x="2542032" y="1920240"/>
            <a:ext cx="1645920" cy="4114800"/>
          </a:xfrm>
          <a:prstGeom prst="roundRect">
            <a:avLst/>
          </a:prstGeom>
          <a:solidFill>
            <a:srgbClr val="182038"/>
          </a:solidFill>
          <a:ln w="12700">
            <a:solidFill>
              <a:srgbClr val="A5B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33472" y="2011680"/>
            <a:ext cx="1463040" cy="3840480"/>
          </a:xfrm>
          <a:prstGeom prst="rect">
            <a:avLst/>
          </a:prstGeom>
          <a:noFill/>
        </p:spPr>
        <p:txBody>
          <a:bodyPr wrap="square">
            <a:spAutoFit/>
          </a:bodyPr>
          <a:lstStyle/>
          <a:p>
            <a:pPr>
              <a:defRPr sz="1200" b="1">
                <a:solidFill>
                  <a:srgbClr val="A5B4FC"/>
                </a:solidFill>
                <a:latin typeface="Segoe UI"/>
              </a:defRPr>
            </a:pPr>
            <a:r>
              <a:t>2. Cognitive Battery</a:t>
            </a:r>
          </a:p>
          <a:p>
            <a:pPr>
              <a:defRPr sz="1000">
                <a:solidFill>
                  <a:srgbClr val="F8FAFC"/>
                </a:solidFill>
                <a:latin typeface="Segoe UI"/>
              </a:defRPr>
            </a:pPr>
            <a:r>
              <a:t>Completes 5 computerized paradigms (Word Recall, Digit Span, Stroop, Trail B, Fluency) in ~10 minutes.</a:t>
            </a:r>
          </a:p>
        </p:txBody>
      </p:sp>
      <p:sp>
        <p:nvSpPr>
          <p:cNvPr id="13" name="Rounded Rectangle 12"/>
          <p:cNvSpPr/>
          <p:nvPr/>
        </p:nvSpPr>
        <p:spPr>
          <a:xfrm>
            <a:off x="4352544" y="1920240"/>
            <a:ext cx="1645920" cy="4114800"/>
          </a:xfrm>
          <a:prstGeom prst="roundRect">
            <a:avLst/>
          </a:prstGeom>
          <a:solidFill>
            <a:srgbClr val="182038"/>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43984" y="2011680"/>
            <a:ext cx="1463040" cy="3840480"/>
          </a:xfrm>
          <a:prstGeom prst="rect">
            <a:avLst/>
          </a:prstGeom>
          <a:noFill/>
        </p:spPr>
        <p:txBody>
          <a:bodyPr wrap="square">
            <a:spAutoFit/>
          </a:bodyPr>
          <a:lstStyle/>
          <a:p>
            <a:pPr>
              <a:defRPr sz="1200" b="1">
                <a:solidFill>
                  <a:srgbClr val="F59E0B"/>
                </a:solidFill>
                <a:latin typeface="Segoe UI"/>
              </a:defRPr>
            </a:pPr>
            <a:r>
              <a:t>3. Normative Scoring</a:t>
            </a:r>
          </a:p>
          <a:p>
            <a:pPr>
              <a:defRPr sz="1000">
                <a:solidFill>
                  <a:srgbClr val="F8FAFC"/>
                </a:solidFill>
                <a:latin typeface="Segoe UI"/>
              </a:defRPr>
            </a:pPr>
            <a:r>
              <a:t>Scoring engine applies age &amp; education adjustments, calculating domain Z-scores and latency ratios.</a:t>
            </a:r>
          </a:p>
        </p:txBody>
      </p:sp>
      <p:sp>
        <p:nvSpPr>
          <p:cNvPr id="15" name="Rounded Rectangle 14"/>
          <p:cNvSpPr/>
          <p:nvPr/>
        </p:nvSpPr>
        <p:spPr>
          <a:xfrm>
            <a:off x="6163056" y="1920240"/>
            <a:ext cx="1645920" cy="4114800"/>
          </a:xfrm>
          <a:prstGeom prst="roundRect">
            <a:avLst/>
          </a:prstGeom>
          <a:solidFill>
            <a:srgbClr val="182038"/>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54496" y="2011680"/>
            <a:ext cx="1463040" cy="3840480"/>
          </a:xfrm>
          <a:prstGeom prst="rect">
            <a:avLst/>
          </a:prstGeom>
          <a:noFill/>
        </p:spPr>
        <p:txBody>
          <a:bodyPr wrap="square">
            <a:spAutoFit/>
          </a:bodyPr>
          <a:lstStyle/>
          <a:p>
            <a:pPr>
              <a:defRPr sz="1200" b="1">
                <a:solidFill>
                  <a:srgbClr val="14B8A6"/>
                </a:solidFill>
                <a:latin typeface="Segoe UI"/>
              </a:defRPr>
            </a:pPr>
            <a:r>
              <a:t>4. Results Visualization</a:t>
            </a:r>
          </a:p>
          <a:p>
            <a:pPr>
              <a:defRPr sz="1000">
                <a:solidFill>
                  <a:srgbClr val="F8FAFC"/>
                </a:solidFill>
                <a:latin typeface="Segoe UI"/>
              </a:defRPr>
            </a:pPr>
            <a:r>
              <a:t>Participant reviews supportive domain strengths and radar profile without alarmist diagnostic labels.</a:t>
            </a:r>
          </a:p>
        </p:txBody>
      </p:sp>
      <p:sp>
        <p:nvSpPr>
          <p:cNvPr id="17" name="Rounded Rectangle 16"/>
          <p:cNvSpPr/>
          <p:nvPr/>
        </p:nvSpPr>
        <p:spPr>
          <a:xfrm>
            <a:off x="7973568" y="1920240"/>
            <a:ext cx="1645920" cy="4114800"/>
          </a:xfrm>
          <a:prstGeom prst="roundRect">
            <a:avLst/>
          </a:prstGeom>
          <a:solidFill>
            <a:srgbClr val="182038"/>
          </a:solidFill>
          <a:ln w="12700">
            <a:solidFill>
              <a:srgbClr val="A5B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65008" y="2011680"/>
            <a:ext cx="1463040" cy="3840480"/>
          </a:xfrm>
          <a:prstGeom prst="rect">
            <a:avLst/>
          </a:prstGeom>
          <a:noFill/>
        </p:spPr>
        <p:txBody>
          <a:bodyPr wrap="square">
            <a:spAutoFit/>
          </a:bodyPr>
          <a:lstStyle/>
          <a:p>
            <a:pPr>
              <a:defRPr sz="1200" b="1">
                <a:solidFill>
                  <a:srgbClr val="A5B4FC"/>
                </a:solidFill>
                <a:latin typeface="Segoe UI"/>
              </a:defRPr>
            </a:pPr>
            <a:r>
              <a:t>5. Longitudinal Tracking</a:t>
            </a:r>
          </a:p>
          <a:p>
            <a:pPr>
              <a:defRPr sz="1000">
                <a:solidFill>
                  <a:srgbClr val="F8FAFC"/>
                </a:solidFill>
                <a:latin typeface="Segoe UI"/>
              </a:defRPr>
            </a:pPr>
            <a:r>
              <a:t>Exasol Personal stores time-series trials; trend engine models longitudinal rate-of-change.</a:t>
            </a:r>
          </a:p>
        </p:txBody>
      </p:sp>
      <p:sp>
        <p:nvSpPr>
          <p:cNvPr id="19" name="Rounded Rectangle 18"/>
          <p:cNvSpPr/>
          <p:nvPr/>
        </p:nvSpPr>
        <p:spPr>
          <a:xfrm>
            <a:off x="9784080" y="1920240"/>
            <a:ext cx="1645920" cy="4114800"/>
          </a:xfrm>
          <a:prstGeom prst="roundRect">
            <a:avLst/>
          </a:prstGeom>
          <a:solidFill>
            <a:srgbClr val="182038"/>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75520" y="2011680"/>
            <a:ext cx="1463040" cy="3840480"/>
          </a:xfrm>
          <a:prstGeom prst="rect">
            <a:avLst/>
          </a:prstGeom>
          <a:noFill/>
        </p:spPr>
        <p:txBody>
          <a:bodyPr wrap="square">
            <a:spAutoFit/>
          </a:bodyPr>
          <a:lstStyle/>
          <a:p>
            <a:pPr>
              <a:defRPr sz="1200" b="1">
                <a:solidFill>
                  <a:srgbClr val="F43F5E"/>
                </a:solidFill>
                <a:latin typeface="Segoe UI"/>
              </a:defRPr>
            </a:pPr>
            <a:r>
              <a:t>6. Clinician Follow-up</a:t>
            </a:r>
          </a:p>
          <a:p>
            <a:pPr>
              <a:defRPr sz="1000">
                <a:solidFill>
                  <a:srgbClr val="F8FAFC"/>
                </a:solidFill>
                <a:latin typeface="Segoe UI"/>
              </a:defRPr>
            </a:pPr>
            <a:r>
              <a:t>Certified healthcare provider reviews longitudinal trends, enters clinical notes, and guides patient care.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011680" cy="320040"/>
          </a:xfrm>
          <a:prstGeom prst="roundRect">
            <a:avLst/>
          </a:prstGeom>
          <a:solidFill>
            <a:srgbClr val="1C2541"/>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4B8A6"/>
                </a:solidFill>
                <a:latin typeface="Segoe UI"/>
              </a:defRPr>
            </a:pPr>
            <a:r>
              <a:t>FULL-STACK ARCHITECTURE</a:t>
            </a:r>
          </a:p>
        </p:txBody>
      </p:sp>
      <p:sp>
        <p:nvSpPr>
          <p:cNvPr id="4" name="TextBox 3"/>
          <p:cNvSpPr txBox="1"/>
          <p:nvPr/>
        </p:nvSpPr>
        <p:spPr>
          <a:xfrm>
            <a:off x="731520" y="822960"/>
            <a:ext cx="10698480" cy="548640"/>
          </a:xfrm>
          <a:prstGeom prst="rect">
            <a:avLst/>
          </a:prstGeom>
          <a:noFill/>
        </p:spPr>
        <p:txBody>
          <a:bodyPr wrap="square">
            <a:spAutoFit/>
          </a:bodyPr>
          <a:lstStyle/>
          <a:p>
            <a:pPr>
              <a:defRPr sz="2400" b="1">
                <a:solidFill>
                  <a:srgbClr val="F8FAFC"/>
                </a:solidFill>
                <a:latin typeface="Segoe UI"/>
              </a:defRPr>
            </a:pPr>
            <a:r>
              <a:t>System Architecture &amp; Component Verification</a:t>
            </a:r>
          </a:p>
        </p:txBody>
      </p:sp>
      <p:sp>
        <p:nvSpPr>
          <p:cNvPr id="5" name="TextBox 4"/>
          <p:cNvSpPr txBox="1"/>
          <p:nvPr/>
        </p:nvSpPr>
        <p:spPr>
          <a:xfrm>
            <a:off x="731520" y="1325880"/>
            <a:ext cx="10698480" cy="365760"/>
          </a:xfrm>
          <a:prstGeom prst="rect">
            <a:avLst/>
          </a:prstGeom>
          <a:noFill/>
        </p:spPr>
        <p:txBody>
          <a:bodyPr wrap="square">
            <a:spAutoFit/>
          </a:bodyPr>
          <a:lstStyle/>
          <a:p>
            <a:pPr>
              <a:defRPr sz="1200">
                <a:solidFill>
                  <a:srgbClr val="94A3B8"/>
                </a:solidFill>
                <a:latin typeface="Segoe UI"/>
              </a:defRPr>
            </a:pPr>
            <a:r>
              <a:t>Clearly distinguishing implemented production components from planned research modules.</a:t>
            </a:r>
          </a:p>
        </p:txBody>
      </p:sp>
      <p:sp>
        <p:nvSpPr>
          <p:cNvPr id="6" name="Rectangle 5"/>
          <p:cNvSpPr/>
          <p:nvPr/>
        </p:nvSpPr>
        <p:spPr>
          <a:xfrm>
            <a:off x="731520" y="6400800"/>
            <a:ext cx="10728655" cy="12700"/>
          </a:xfrm>
          <a:prstGeom prst="rect">
            <a:avLst/>
          </a:prstGeom>
          <a:solidFill>
            <a:srgbClr val="2E3D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686800" cy="320040"/>
          </a:xfrm>
          <a:prstGeom prst="rect">
            <a:avLst/>
          </a:prstGeom>
          <a:noFill/>
        </p:spPr>
        <p:txBody>
          <a:bodyPr wrap="none">
            <a:spAutoFit/>
          </a:bodyPr>
          <a:lstStyle/>
          <a:p>
            <a:pPr>
              <a:defRPr sz="900">
                <a:solidFill>
                  <a:srgbClr val="94A3B8"/>
                </a:solidFill>
                <a:latin typeface="Segoe UI"/>
              </a:defRPr>
            </a:pPr>
            <a:r>
              <a:t>MindBridge AI • Investigational Cognitive Screening Platform • IRB Protocol MB-2026 • Non-Diagnostic</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00" b="1">
                <a:solidFill>
                  <a:srgbClr val="A5B4FC"/>
                </a:solidFill>
                <a:latin typeface="Segoe UI"/>
              </a:defRPr>
            </a:pPr>
            <a:r>
              <a:t>6 / 12</a:t>
            </a:r>
          </a:p>
        </p:txBody>
      </p:sp>
      <p:sp>
        <p:nvSpPr>
          <p:cNvPr id="9" name="Rounded Rectangle 8"/>
          <p:cNvSpPr/>
          <p:nvPr/>
        </p:nvSpPr>
        <p:spPr>
          <a:xfrm>
            <a:off x="731520" y="1828800"/>
            <a:ext cx="3474720" cy="3474720"/>
          </a:xfrm>
          <a:prstGeom prst="roundRect">
            <a:avLst/>
          </a:prstGeom>
          <a:solidFill>
            <a:srgbClr val="182038"/>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011680"/>
            <a:ext cx="3108960" cy="3108960"/>
          </a:xfrm>
          <a:prstGeom prst="rect">
            <a:avLst/>
          </a:prstGeom>
          <a:noFill/>
        </p:spPr>
        <p:txBody>
          <a:bodyPr wrap="square">
            <a:spAutoFit/>
          </a:bodyPr>
          <a:lstStyle/>
          <a:p>
            <a:pPr>
              <a:defRPr sz="1300" b="1">
                <a:solidFill>
                  <a:srgbClr val="14B8A6"/>
                </a:solidFill>
                <a:latin typeface="Segoe UI"/>
              </a:defRPr>
            </a:pPr>
            <a:r>
              <a:t>Frontend Layer (VERIFIED IMPLEMENTED)</a:t>
            </a:r>
          </a:p>
          <a:p>
            <a:pPr>
              <a:defRPr sz="1050">
                <a:solidFill>
                  <a:srgbClr val="F8FAFC"/>
                </a:solidFill>
                <a:latin typeface="Segoe UI"/>
              </a:defRPr>
            </a:pPr>
            <a:r>
              <a:t>• React 19 + TypeScript + Vite</a:t>
            </a:r>
            <a:br/>
            <a:r>
              <a:t>• Tailwind CSS v4 design system</a:t>
            </a:r>
            <a:br/>
            <a:r>
              <a:t>• Plotly.js interactive charts (Radar, Trends, ROC)</a:t>
            </a:r>
            <a:br/>
            <a:r>
              <a:t>• WCAG 2.1 AA accessibility (High contrast, text scaling, dark mode)</a:t>
            </a:r>
            <a:br/>
            <a:r>
              <a:t>• Lucide-react medical iconography</a:t>
            </a:r>
          </a:p>
        </p:txBody>
      </p:sp>
      <p:sp>
        <p:nvSpPr>
          <p:cNvPr id="11" name="Rounded Rectangle 10"/>
          <p:cNvSpPr/>
          <p:nvPr/>
        </p:nvSpPr>
        <p:spPr>
          <a:xfrm>
            <a:off x="4343400" y="1828800"/>
            <a:ext cx="3474720" cy="3474720"/>
          </a:xfrm>
          <a:prstGeom prst="roundRect">
            <a:avLst/>
          </a:prstGeom>
          <a:solidFill>
            <a:srgbClr val="182038"/>
          </a:solidFill>
          <a:ln w="12700">
            <a:solidFill>
              <a:srgbClr val="A5B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2011680"/>
            <a:ext cx="3108960" cy="3108960"/>
          </a:xfrm>
          <a:prstGeom prst="rect">
            <a:avLst/>
          </a:prstGeom>
          <a:noFill/>
        </p:spPr>
        <p:txBody>
          <a:bodyPr wrap="square">
            <a:spAutoFit/>
          </a:bodyPr>
          <a:lstStyle/>
          <a:p>
            <a:pPr>
              <a:defRPr sz="1300" b="1">
                <a:solidFill>
                  <a:srgbClr val="A5B4FC"/>
                </a:solidFill>
                <a:latin typeface="Segoe UI"/>
              </a:defRPr>
            </a:pPr>
            <a:r>
              <a:t>Backend &amp; Engine (VERIFIED IMPLEMENTED)</a:t>
            </a:r>
          </a:p>
          <a:p>
            <a:pPr>
              <a:defRPr sz="1050">
                <a:solidFill>
                  <a:srgbClr val="F8FAFC"/>
                </a:solidFill>
                <a:latin typeface="Segoe UI"/>
              </a:defRPr>
            </a:pPr>
            <a:r>
              <a:t>• FastAPI (Python 3.10) with Pydantic v2 schemas</a:t>
            </a:r>
            <a:br/>
            <a:r>
              <a:t>• Demographically adjusted Normative Scoring Engine</a:t>
            </a:r>
            <a:br/>
            <a:r>
              <a:t>• Calibrated Random Forest ML research pipeline</a:t>
            </a:r>
            <a:br/>
            <a:r>
              <a:t>• JWT authentication &amp; Role-Based Access Control</a:t>
            </a:r>
            <a:br/>
            <a:r>
              <a:t>• Immutable audit logging table (HIPAA / GDPR ready)</a:t>
            </a:r>
          </a:p>
        </p:txBody>
      </p:sp>
      <p:sp>
        <p:nvSpPr>
          <p:cNvPr id="13" name="Rounded Rectangle 12"/>
          <p:cNvSpPr/>
          <p:nvPr/>
        </p:nvSpPr>
        <p:spPr>
          <a:xfrm>
            <a:off x="7955280" y="1828800"/>
            <a:ext cx="3474720" cy="3474720"/>
          </a:xfrm>
          <a:prstGeom prst="roundRect">
            <a:avLst/>
          </a:prstGeom>
          <a:solidFill>
            <a:srgbClr val="182038"/>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0" y="2011680"/>
            <a:ext cx="3108960" cy="3108960"/>
          </a:xfrm>
          <a:prstGeom prst="rect">
            <a:avLst/>
          </a:prstGeom>
          <a:noFill/>
        </p:spPr>
        <p:txBody>
          <a:bodyPr wrap="square">
            <a:spAutoFit/>
          </a:bodyPr>
          <a:lstStyle/>
          <a:p>
            <a:pPr>
              <a:defRPr sz="1300" b="1">
                <a:solidFill>
                  <a:srgbClr val="F59E0B"/>
                </a:solidFill>
                <a:latin typeface="Segoe UI"/>
              </a:defRPr>
            </a:pPr>
            <a:r>
              <a:t>Persistence &amp; Analytics (DUAL-MODE VERIFIED)</a:t>
            </a:r>
          </a:p>
          <a:p>
            <a:pPr>
              <a:defRPr sz="1050">
                <a:solidFill>
                  <a:srgbClr val="F8FAFC"/>
                </a:solidFill>
                <a:latin typeface="Segoe UI"/>
              </a:defRPr>
            </a:pPr>
            <a:r>
              <a:t>• Exasol Personal: In-memory columnar DB via official pyexasol client (port 8563)</a:t>
            </a:r>
            <a:br/>
            <a:r>
              <a:t>• Explicit Mock Exasol Adapter: Built-in transparent fallback when Docker is inactive; clearly badges synthetic dev data</a:t>
            </a:r>
            <a:br/>
            <a:r>
              <a:t>• Automated Pytest Suite: 11/11 tests passing across scoring, auth, DB, and ML.</a:t>
            </a:r>
          </a:p>
        </p:txBody>
      </p:sp>
      <p:sp>
        <p:nvSpPr>
          <p:cNvPr id="15" name="Rounded Rectangle 14"/>
          <p:cNvSpPr/>
          <p:nvPr/>
        </p:nvSpPr>
        <p:spPr>
          <a:xfrm>
            <a:off x="731520" y="5486400"/>
            <a:ext cx="10728655" cy="731520"/>
          </a:xfrm>
          <a:prstGeom prst="roundRect">
            <a:avLst/>
          </a:prstGeom>
          <a:solidFill>
            <a:srgbClr val="182038"/>
          </a:solidFill>
          <a:ln w="12700">
            <a:solidFill>
              <a:srgbClr val="2E3D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532120"/>
            <a:ext cx="10332720" cy="640080"/>
          </a:xfrm>
          <a:prstGeom prst="rect">
            <a:avLst/>
          </a:prstGeom>
          <a:noFill/>
        </p:spPr>
        <p:txBody>
          <a:bodyPr wrap="square">
            <a:spAutoFit/>
          </a:bodyPr>
          <a:lstStyle/>
          <a:p>
            <a:pPr>
              <a:defRPr sz="1050" b="1">
                <a:solidFill>
                  <a:srgbClr val="A5B4FC"/>
                </a:solidFill>
                <a:latin typeface="Segoe UI"/>
              </a:defRPr>
            </a:pPr>
            <a:r>
              <a:t>PLANNED ARCHITECTURE MODULES (Future Roadmap):</a:t>
            </a:r>
          </a:p>
          <a:p>
            <a:pPr>
              <a:defRPr sz="1000">
                <a:solidFill>
                  <a:srgbClr val="94A3B8"/>
                </a:solidFill>
                <a:latin typeface="Segoe UI"/>
              </a:defRPr>
            </a:pPr>
            <a:r>
              <a:t>HL7/FHIR EHR Interoperability • Native iOS/Android tablet applications • Multi-site distributed Exasol cluster synchronization • Blood-biomarker (p-tau217) data correlation pipeline.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011680" cy="320040"/>
          </a:xfrm>
          <a:prstGeom prst="roundRect">
            <a:avLst/>
          </a:prstGeom>
          <a:solidFill>
            <a:srgbClr val="1C2541"/>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4B8A6"/>
                </a:solidFill>
                <a:latin typeface="Segoe UI"/>
              </a:defRPr>
            </a:pPr>
            <a:r>
              <a:t>DATABASE &amp; ANALYTICS ENGINE</a:t>
            </a:r>
          </a:p>
        </p:txBody>
      </p:sp>
      <p:sp>
        <p:nvSpPr>
          <p:cNvPr id="4" name="TextBox 3"/>
          <p:cNvSpPr txBox="1"/>
          <p:nvPr/>
        </p:nvSpPr>
        <p:spPr>
          <a:xfrm>
            <a:off x="731520" y="822960"/>
            <a:ext cx="10698480" cy="548640"/>
          </a:xfrm>
          <a:prstGeom prst="rect">
            <a:avLst/>
          </a:prstGeom>
          <a:noFill/>
        </p:spPr>
        <p:txBody>
          <a:bodyPr wrap="square">
            <a:spAutoFit/>
          </a:bodyPr>
          <a:lstStyle/>
          <a:p>
            <a:pPr>
              <a:defRPr sz="2400" b="1">
                <a:solidFill>
                  <a:srgbClr val="F8FAFC"/>
                </a:solidFill>
                <a:latin typeface="Segoe UI"/>
              </a:defRPr>
            </a:pPr>
            <a:r>
              <a:t>The Strategic Role of Exasol Personal</a:t>
            </a:r>
          </a:p>
        </p:txBody>
      </p:sp>
      <p:sp>
        <p:nvSpPr>
          <p:cNvPr id="5" name="TextBox 4"/>
          <p:cNvSpPr txBox="1"/>
          <p:nvPr/>
        </p:nvSpPr>
        <p:spPr>
          <a:xfrm>
            <a:off x="731520" y="1325880"/>
            <a:ext cx="10698480" cy="365760"/>
          </a:xfrm>
          <a:prstGeom prst="rect">
            <a:avLst/>
          </a:prstGeom>
          <a:noFill/>
        </p:spPr>
        <p:txBody>
          <a:bodyPr wrap="square">
            <a:spAutoFit/>
          </a:bodyPr>
          <a:lstStyle/>
          <a:p>
            <a:pPr>
              <a:defRPr sz="1200">
                <a:solidFill>
                  <a:srgbClr val="94A3B8"/>
                </a:solidFill>
                <a:latin typeface="Segoe UI"/>
              </a:defRPr>
            </a:pPr>
            <a:r>
              <a:t>High-performance in-memory columnar database enabling sub-second longitudinal analytics.</a:t>
            </a:r>
          </a:p>
        </p:txBody>
      </p:sp>
      <p:sp>
        <p:nvSpPr>
          <p:cNvPr id="6" name="Rectangle 5"/>
          <p:cNvSpPr/>
          <p:nvPr/>
        </p:nvSpPr>
        <p:spPr>
          <a:xfrm>
            <a:off x="731520" y="6400800"/>
            <a:ext cx="10728655" cy="12700"/>
          </a:xfrm>
          <a:prstGeom prst="rect">
            <a:avLst/>
          </a:prstGeom>
          <a:solidFill>
            <a:srgbClr val="2E3D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686800" cy="320040"/>
          </a:xfrm>
          <a:prstGeom prst="rect">
            <a:avLst/>
          </a:prstGeom>
          <a:noFill/>
        </p:spPr>
        <p:txBody>
          <a:bodyPr wrap="none">
            <a:spAutoFit/>
          </a:bodyPr>
          <a:lstStyle/>
          <a:p>
            <a:pPr>
              <a:defRPr sz="900">
                <a:solidFill>
                  <a:srgbClr val="94A3B8"/>
                </a:solidFill>
                <a:latin typeface="Segoe UI"/>
              </a:defRPr>
            </a:pPr>
            <a:r>
              <a:t>MindBridge AI • Investigational Cognitive Screening Platform • IRB Protocol MB-2026 • Non-Diagnostic</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00" b="1">
                <a:solidFill>
                  <a:srgbClr val="A5B4FC"/>
                </a:solidFill>
                <a:latin typeface="Segoe UI"/>
              </a:defRPr>
            </a:pPr>
            <a:r>
              <a:t>7 / 12</a:t>
            </a:r>
          </a:p>
        </p:txBody>
      </p:sp>
      <p:sp>
        <p:nvSpPr>
          <p:cNvPr id="9" name="Rounded Rectangle 8"/>
          <p:cNvSpPr/>
          <p:nvPr/>
        </p:nvSpPr>
        <p:spPr>
          <a:xfrm>
            <a:off x="731520" y="1828800"/>
            <a:ext cx="5486400" cy="1280160"/>
          </a:xfrm>
          <a:prstGeom prst="roundRect">
            <a:avLst/>
          </a:prstGeom>
          <a:solidFill>
            <a:srgbClr val="182038"/>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938528"/>
            <a:ext cx="5212080" cy="1051560"/>
          </a:xfrm>
          <a:prstGeom prst="rect">
            <a:avLst/>
          </a:prstGeom>
          <a:noFill/>
        </p:spPr>
        <p:txBody>
          <a:bodyPr wrap="square">
            <a:spAutoFit/>
          </a:bodyPr>
          <a:lstStyle/>
          <a:p>
            <a:pPr>
              <a:defRPr sz="1250" b="1">
                <a:solidFill>
                  <a:srgbClr val="14B8A6"/>
                </a:solidFill>
                <a:latin typeface="Segoe UI"/>
              </a:defRPr>
            </a:pPr>
            <a:r>
              <a:t>Columnar In-Memory Processing</a:t>
            </a:r>
          </a:p>
          <a:p>
            <a:pPr>
              <a:defRPr sz="1000">
                <a:solidFill>
                  <a:srgbClr val="F8FAFC"/>
                </a:solidFill>
                <a:latin typeface="Segoe UI"/>
              </a:defRPr>
            </a:pPr>
            <a:r>
              <a:t>Cognitive screening produces thousands of trial-level millisecond data points per session. Exasol's in-memory columnar structure enables microsecond aggregations across millions of psychometric trials.</a:t>
            </a:r>
          </a:p>
        </p:txBody>
      </p:sp>
      <p:sp>
        <p:nvSpPr>
          <p:cNvPr id="11" name="Rounded Rectangle 10"/>
          <p:cNvSpPr/>
          <p:nvPr/>
        </p:nvSpPr>
        <p:spPr>
          <a:xfrm>
            <a:off x="731520" y="3246120"/>
            <a:ext cx="5486400" cy="1280160"/>
          </a:xfrm>
          <a:prstGeom prst="roundRect">
            <a:avLst/>
          </a:prstGeom>
          <a:solidFill>
            <a:srgbClr val="182038"/>
          </a:solidFill>
          <a:ln w="12700">
            <a:solidFill>
              <a:srgbClr val="A5B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355848"/>
            <a:ext cx="5212080" cy="1051560"/>
          </a:xfrm>
          <a:prstGeom prst="rect">
            <a:avLst/>
          </a:prstGeom>
          <a:noFill/>
        </p:spPr>
        <p:txBody>
          <a:bodyPr wrap="square">
            <a:spAutoFit/>
          </a:bodyPr>
          <a:lstStyle/>
          <a:p>
            <a:pPr>
              <a:defRPr sz="1250" b="1">
                <a:solidFill>
                  <a:srgbClr val="A5B4FC"/>
                </a:solidFill>
                <a:latin typeface="Segoe UI"/>
              </a:defRPr>
            </a:pPr>
            <a:r>
              <a:t>Structured Normalized Schema</a:t>
            </a:r>
          </a:p>
          <a:p>
            <a:pPr>
              <a:defRPr sz="1000">
                <a:solidFill>
                  <a:srgbClr val="F8FAFC"/>
                </a:solidFill>
                <a:latin typeface="Segoe UI"/>
              </a:defRPr>
            </a:pPr>
            <a:r>
              <a:t>The MINDBRIDGE schema enforces relational integrity across 6 core tables: PARTICIPANTS, USERS, ASSESSMENT_SESSIONS, TASK_RESULTS, MODEL_EVALUATION_RECORDS, and immutable AUDIT_LOGS.</a:t>
            </a:r>
          </a:p>
        </p:txBody>
      </p:sp>
      <p:sp>
        <p:nvSpPr>
          <p:cNvPr id="13" name="Rounded Rectangle 12"/>
          <p:cNvSpPr/>
          <p:nvPr/>
        </p:nvSpPr>
        <p:spPr>
          <a:xfrm>
            <a:off x="731520" y="4663440"/>
            <a:ext cx="5486400" cy="1280160"/>
          </a:xfrm>
          <a:prstGeom prst="roundRect">
            <a:avLst/>
          </a:prstGeom>
          <a:solidFill>
            <a:srgbClr val="182038"/>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773168"/>
            <a:ext cx="5212080" cy="1051560"/>
          </a:xfrm>
          <a:prstGeom prst="rect">
            <a:avLst/>
          </a:prstGeom>
          <a:noFill/>
        </p:spPr>
        <p:txBody>
          <a:bodyPr wrap="square">
            <a:spAutoFit/>
          </a:bodyPr>
          <a:lstStyle/>
          <a:p>
            <a:pPr>
              <a:defRPr sz="1250" b="1">
                <a:solidFill>
                  <a:srgbClr val="F59E0B"/>
                </a:solidFill>
                <a:latin typeface="Segoe UI"/>
              </a:defRPr>
            </a:pPr>
            <a:r>
              <a:t>Complex Longitudinal SQL Queries</a:t>
            </a:r>
          </a:p>
          <a:p>
            <a:pPr>
              <a:defRPr sz="1000">
                <a:solidFill>
                  <a:srgbClr val="F8FAFC"/>
                </a:solidFill>
                <a:latin typeface="Segoe UI"/>
              </a:defRPr>
            </a:pPr>
            <a:r>
              <a:t>Enables window functions (AVG OVER PARTITION BY) to compute longitudinal rate-of-change slopes and normative percentiles dynamically without pre-computing static caches.</a:t>
            </a:r>
          </a:p>
        </p:txBody>
      </p:sp>
      <p:sp>
        <p:nvSpPr>
          <p:cNvPr id="15" name="Rounded Rectangle 14"/>
          <p:cNvSpPr/>
          <p:nvPr/>
        </p:nvSpPr>
        <p:spPr>
          <a:xfrm>
            <a:off x="6492240" y="1828800"/>
            <a:ext cx="4967935" cy="4297680"/>
          </a:xfrm>
          <a:prstGeom prst="roundRect">
            <a:avLst/>
          </a:prstGeom>
          <a:solidFill>
            <a:srgbClr val="182038"/>
          </a:solidFill>
          <a:ln w="12700">
            <a:solidFill>
              <a:srgbClr val="2E3D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02_diagnostics.png"/>
          <p:cNvPicPr>
            <a:picLocks noChangeAspect="1"/>
          </p:cNvPicPr>
          <p:nvPr/>
        </p:nvPicPr>
        <p:blipFill>
          <a:blip r:embed="rId2"/>
          <a:stretch>
            <a:fillRect/>
          </a:stretch>
        </p:blipFill>
        <p:spPr>
          <a:xfrm>
            <a:off x="6629400" y="1965960"/>
            <a:ext cx="4693615" cy="2743200"/>
          </a:xfrm>
          <a:prstGeom prst="rect">
            <a:avLst/>
          </a:prstGeom>
        </p:spPr>
      </p:pic>
      <p:sp>
        <p:nvSpPr>
          <p:cNvPr id="17" name="TextBox 16"/>
          <p:cNvSpPr txBox="1"/>
          <p:nvPr/>
        </p:nvSpPr>
        <p:spPr>
          <a:xfrm>
            <a:off x="6629400" y="4800600"/>
            <a:ext cx="4693615" cy="1188720"/>
          </a:xfrm>
          <a:prstGeom prst="rect">
            <a:avLst/>
          </a:prstGeom>
          <a:noFill/>
        </p:spPr>
        <p:txBody>
          <a:bodyPr wrap="square">
            <a:spAutoFit/>
          </a:bodyPr>
          <a:lstStyle/>
          <a:p>
            <a:pPr>
              <a:defRPr sz="1100" b="1">
                <a:solidFill>
                  <a:srgbClr val="F59E0B"/>
                </a:solidFill>
                <a:latin typeface="Segoe UI"/>
              </a:defRPr>
            </a:pPr>
            <a:r>
              <a:t>TRANSPARENT FALLBACK INTEGRITY:</a:t>
            </a:r>
          </a:p>
          <a:p>
            <a:pPr>
              <a:defRPr sz="950">
                <a:solidFill>
                  <a:srgbClr val="94A3B8"/>
                </a:solidFill>
                <a:latin typeface="Segoe UI"/>
              </a:defRPr>
            </a:pPr>
            <a:r>
              <a:t>When running without an active Docker instance, the system activates ExplicitMockExasolAdapter, explicitly labeling all dev records as synthetic benchmarks and displaying an amber warning banner in the UI.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011680" cy="320040"/>
          </a:xfrm>
          <a:prstGeom prst="roundRect">
            <a:avLst/>
          </a:prstGeom>
          <a:solidFill>
            <a:srgbClr val="1C2541"/>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4B8A6"/>
                </a:solidFill>
                <a:latin typeface="Segoe UI"/>
              </a:defRPr>
            </a:pPr>
            <a:r>
              <a:t>RESEARCH AI &amp; ANALYTICS</a:t>
            </a:r>
          </a:p>
        </p:txBody>
      </p:sp>
      <p:sp>
        <p:nvSpPr>
          <p:cNvPr id="4" name="TextBox 3"/>
          <p:cNvSpPr txBox="1"/>
          <p:nvPr/>
        </p:nvSpPr>
        <p:spPr>
          <a:xfrm>
            <a:off x="731520" y="822960"/>
            <a:ext cx="10698480" cy="548640"/>
          </a:xfrm>
          <a:prstGeom prst="rect">
            <a:avLst/>
          </a:prstGeom>
          <a:noFill/>
        </p:spPr>
        <p:txBody>
          <a:bodyPr wrap="square">
            <a:spAutoFit/>
          </a:bodyPr>
          <a:lstStyle/>
          <a:p>
            <a:pPr>
              <a:defRPr sz="2400" b="1">
                <a:solidFill>
                  <a:srgbClr val="F8FAFC"/>
                </a:solidFill>
                <a:latin typeface="Segoe UI"/>
              </a:defRPr>
            </a:pPr>
            <a:r>
              <a:t>Calibrated Machine Learning &amp; Fairness Auditing</a:t>
            </a:r>
          </a:p>
        </p:txBody>
      </p:sp>
      <p:sp>
        <p:nvSpPr>
          <p:cNvPr id="5" name="TextBox 4"/>
          <p:cNvSpPr txBox="1"/>
          <p:nvPr/>
        </p:nvSpPr>
        <p:spPr>
          <a:xfrm>
            <a:off x="731520" y="1325880"/>
            <a:ext cx="10698480" cy="365760"/>
          </a:xfrm>
          <a:prstGeom prst="rect">
            <a:avLst/>
          </a:prstGeom>
          <a:noFill/>
        </p:spPr>
        <p:txBody>
          <a:bodyPr wrap="square">
            <a:spAutoFit/>
          </a:bodyPr>
          <a:lstStyle/>
          <a:p>
            <a:pPr>
              <a:defRPr sz="1200">
                <a:solidFill>
                  <a:srgbClr val="94A3B8"/>
                </a:solidFill>
                <a:latin typeface="Segoe UI"/>
              </a:defRPr>
            </a:pPr>
            <a:r>
              <a:t>Evaluating predictive psychometric models with probability calibration and subgroup demographic parity.</a:t>
            </a:r>
          </a:p>
        </p:txBody>
      </p:sp>
      <p:sp>
        <p:nvSpPr>
          <p:cNvPr id="6" name="Rectangle 5"/>
          <p:cNvSpPr/>
          <p:nvPr/>
        </p:nvSpPr>
        <p:spPr>
          <a:xfrm>
            <a:off x="731520" y="6400800"/>
            <a:ext cx="10728655" cy="12700"/>
          </a:xfrm>
          <a:prstGeom prst="rect">
            <a:avLst/>
          </a:prstGeom>
          <a:solidFill>
            <a:srgbClr val="2E3D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686800" cy="320040"/>
          </a:xfrm>
          <a:prstGeom prst="rect">
            <a:avLst/>
          </a:prstGeom>
          <a:noFill/>
        </p:spPr>
        <p:txBody>
          <a:bodyPr wrap="none">
            <a:spAutoFit/>
          </a:bodyPr>
          <a:lstStyle/>
          <a:p>
            <a:pPr>
              <a:defRPr sz="900">
                <a:solidFill>
                  <a:srgbClr val="94A3B8"/>
                </a:solidFill>
                <a:latin typeface="Segoe UI"/>
              </a:defRPr>
            </a:pPr>
            <a:r>
              <a:t>MindBridge AI • Investigational Cognitive Screening Platform • IRB Protocol MB-2026 • Non-Diagnostic</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00" b="1">
                <a:solidFill>
                  <a:srgbClr val="A5B4FC"/>
                </a:solidFill>
                <a:latin typeface="Segoe UI"/>
              </a:defRPr>
            </a:pPr>
            <a:r>
              <a:t>8 / 12</a:t>
            </a:r>
          </a:p>
        </p:txBody>
      </p:sp>
      <p:sp>
        <p:nvSpPr>
          <p:cNvPr id="9" name="Rounded Rectangle 8"/>
          <p:cNvSpPr/>
          <p:nvPr/>
        </p:nvSpPr>
        <p:spPr>
          <a:xfrm>
            <a:off x="731520" y="1828800"/>
            <a:ext cx="3474720" cy="3291840"/>
          </a:xfrm>
          <a:prstGeom prst="roundRect">
            <a:avLst/>
          </a:prstGeom>
          <a:solidFill>
            <a:srgbClr val="182038"/>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011680"/>
            <a:ext cx="3108960" cy="2926080"/>
          </a:xfrm>
          <a:prstGeom prst="rect">
            <a:avLst/>
          </a:prstGeom>
          <a:noFill/>
        </p:spPr>
        <p:txBody>
          <a:bodyPr wrap="square">
            <a:spAutoFit/>
          </a:bodyPr>
          <a:lstStyle/>
          <a:p>
            <a:pPr>
              <a:defRPr sz="1300" b="1">
                <a:solidFill>
                  <a:srgbClr val="14B8A6"/>
                </a:solidFill>
                <a:latin typeface="Segoe UI"/>
              </a:defRPr>
            </a:pPr>
            <a:r>
              <a:t>Calibrated Random Forest</a:t>
            </a:r>
          </a:p>
          <a:p>
            <a:pPr>
              <a:defRPr sz="1050">
                <a:solidFill>
                  <a:srgbClr val="F8FAFC"/>
                </a:solidFill>
                <a:latin typeface="Segoe UI"/>
              </a:defRPr>
            </a:pPr>
            <a:r>
              <a:t>• Isotonically calibrated ensemble</a:t>
            </a:r>
            <a:br/>
            <a:r>
              <a:t>• ROC-AUC: 0.88 on synthetic benchmark</a:t>
            </a:r>
            <a:br/>
            <a:r>
              <a:t>• Sensitivity: 87.5% | Specificity: 86.2%</a:t>
            </a:r>
            <a:br/>
            <a:r>
              <a:t>• Brier Calibration Score: 0.12</a:t>
            </a:r>
            <a:br/>
            <a:r>
              <a:t>• Avoids overconfident uncalibrated outputs</a:t>
            </a:r>
          </a:p>
        </p:txBody>
      </p:sp>
      <p:sp>
        <p:nvSpPr>
          <p:cNvPr id="11" name="Rounded Rectangle 10"/>
          <p:cNvSpPr/>
          <p:nvPr/>
        </p:nvSpPr>
        <p:spPr>
          <a:xfrm>
            <a:off x="4343400" y="1828800"/>
            <a:ext cx="3474720" cy="3291840"/>
          </a:xfrm>
          <a:prstGeom prst="roundRect">
            <a:avLst/>
          </a:prstGeom>
          <a:solidFill>
            <a:srgbClr val="182038"/>
          </a:solidFill>
          <a:ln w="12700">
            <a:solidFill>
              <a:srgbClr val="A5B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2011680"/>
            <a:ext cx="3108960" cy="2926080"/>
          </a:xfrm>
          <a:prstGeom prst="rect">
            <a:avLst/>
          </a:prstGeom>
          <a:noFill/>
        </p:spPr>
        <p:txBody>
          <a:bodyPr wrap="square">
            <a:spAutoFit/>
          </a:bodyPr>
          <a:lstStyle/>
          <a:p>
            <a:pPr>
              <a:defRPr sz="1300" b="1">
                <a:solidFill>
                  <a:srgbClr val="A5B4FC"/>
                </a:solidFill>
                <a:latin typeface="Segoe UI"/>
              </a:defRPr>
            </a:pPr>
            <a:r>
              <a:t>Key Feature Importance</a:t>
            </a:r>
          </a:p>
          <a:p>
            <a:pPr>
              <a:defRPr sz="1050">
                <a:solidFill>
                  <a:srgbClr val="F8FAFC"/>
                </a:solidFill>
                <a:latin typeface="Segoe UI"/>
              </a:defRPr>
            </a:pPr>
            <a:r>
              <a:t>Ranked psychometric predictive weights:</a:t>
            </a:r>
            <a:br/>
            <a:r>
              <a:t>1. Delayed Word Recall Z: 0.34</a:t>
            </a:r>
            <a:br/>
            <a:r>
              <a:t>2. Stroop Interference Latency: 0.24</a:t>
            </a:r>
            <a:br/>
            <a:r>
              <a:t>3. Trail Making B Switch Time: 0.21</a:t>
            </a:r>
            <a:br/>
            <a:r>
              <a:t>4. Adaptive Digit Span: 0.12</a:t>
            </a:r>
            <a:br/>
            <a:r>
              <a:t>5. Category Semantic Fluency: 0.09</a:t>
            </a:r>
          </a:p>
        </p:txBody>
      </p:sp>
      <p:sp>
        <p:nvSpPr>
          <p:cNvPr id="13" name="Rounded Rectangle 12"/>
          <p:cNvSpPr/>
          <p:nvPr/>
        </p:nvSpPr>
        <p:spPr>
          <a:xfrm>
            <a:off x="7955280" y="1828800"/>
            <a:ext cx="3474720" cy="3291840"/>
          </a:xfrm>
          <a:prstGeom prst="roundRect">
            <a:avLst/>
          </a:prstGeom>
          <a:solidFill>
            <a:srgbClr val="182038"/>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0" y="2011680"/>
            <a:ext cx="3108960" cy="2926080"/>
          </a:xfrm>
          <a:prstGeom prst="rect">
            <a:avLst/>
          </a:prstGeom>
          <a:noFill/>
        </p:spPr>
        <p:txBody>
          <a:bodyPr wrap="square">
            <a:spAutoFit/>
          </a:bodyPr>
          <a:lstStyle/>
          <a:p>
            <a:pPr>
              <a:defRPr sz="1300" b="1">
                <a:solidFill>
                  <a:srgbClr val="F59E0B"/>
                </a:solidFill>
                <a:latin typeface="Segoe UI"/>
              </a:defRPr>
            </a:pPr>
            <a:r>
              <a:t>Subgroup Demographic Fairness</a:t>
            </a:r>
          </a:p>
          <a:p>
            <a:pPr>
              <a:defRPr sz="1050">
                <a:solidFill>
                  <a:srgbClr val="F8FAFC"/>
                </a:solidFill>
                <a:latin typeface="Segoe UI"/>
              </a:defRPr>
            </a:pPr>
            <a:r>
              <a:t>Evaluated across age cohorts:</a:t>
            </a:r>
            <a:br/>
            <a:r>
              <a:t>• Age 50–64: Sens 86.4% | Spec 88.9%</a:t>
            </a:r>
            <a:br/>
            <a:r>
              <a:t>• Age 65–74: Sens 88.0% | Spec 86.8%</a:t>
            </a:r>
            <a:br/>
            <a:r>
              <a:t>• Age 75+: Sens 84.6% | Spec 85.0%</a:t>
            </a:r>
            <a:br/>
            <a:r>
              <a:t>Demographic disparity delta &lt; 0.05</a:t>
            </a:r>
          </a:p>
        </p:txBody>
      </p:sp>
      <p:sp>
        <p:nvSpPr>
          <p:cNvPr id="15" name="Rounded Rectangle 14"/>
          <p:cNvSpPr/>
          <p:nvPr/>
        </p:nvSpPr>
        <p:spPr>
          <a:xfrm>
            <a:off x="731520" y="5303520"/>
            <a:ext cx="10728655" cy="914400"/>
          </a:xfrm>
          <a:prstGeom prst="roundRect">
            <a:avLst/>
          </a:prstGeom>
          <a:solidFill>
            <a:srgbClr val="182038"/>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394960"/>
            <a:ext cx="10332720" cy="731520"/>
          </a:xfrm>
          <a:prstGeom prst="rect">
            <a:avLst/>
          </a:prstGeom>
          <a:noFill/>
        </p:spPr>
        <p:txBody>
          <a:bodyPr wrap="square">
            <a:spAutoFit/>
          </a:bodyPr>
          <a:lstStyle/>
          <a:p>
            <a:pPr>
              <a:defRPr sz="1100" b="1">
                <a:solidFill>
                  <a:srgbClr val="F43F5E"/>
                </a:solidFill>
                <a:latin typeface="Segoe UI"/>
              </a:defRPr>
            </a:pPr>
            <a:r>
              <a:t>RESEARCH GOVERNANCE: Non-Diagnostic Model Scope</a:t>
            </a:r>
          </a:p>
          <a:p>
            <a:pPr>
              <a:defRPr sz="1000">
                <a:solidFill>
                  <a:srgbClr val="F8FAFC"/>
                </a:solidFill>
                <a:latin typeface="Segoe UI"/>
              </a:defRPr>
            </a:pPr>
            <a:r>
              <a:t>All model predictions are permanently tagged with model_scope: 'RESEARCH_INVESTIGATIONAL_ONLY' and is_diagnostic: false. Machine learning outputs are research benchmarks designed to guide clinical discussion, never autonomous medical conclusions.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011680" cy="320040"/>
          </a:xfrm>
          <a:prstGeom prst="roundRect">
            <a:avLst/>
          </a:prstGeom>
          <a:solidFill>
            <a:srgbClr val="1C2541"/>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4B8A6"/>
                </a:solidFill>
                <a:latin typeface="Segoe UI"/>
              </a:defRPr>
            </a:pPr>
            <a:r>
              <a:t>RESPONSIBLE HEALTHCARE AI</a:t>
            </a:r>
          </a:p>
        </p:txBody>
      </p:sp>
      <p:sp>
        <p:nvSpPr>
          <p:cNvPr id="4" name="TextBox 3"/>
          <p:cNvSpPr txBox="1"/>
          <p:nvPr/>
        </p:nvSpPr>
        <p:spPr>
          <a:xfrm>
            <a:off x="731520" y="822960"/>
            <a:ext cx="10698480" cy="548640"/>
          </a:xfrm>
          <a:prstGeom prst="rect">
            <a:avLst/>
          </a:prstGeom>
          <a:noFill/>
        </p:spPr>
        <p:txBody>
          <a:bodyPr wrap="square">
            <a:spAutoFit/>
          </a:bodyPr>
          <a:lstStyle/>
          <a:p>
            <a:pPr>
              <a:defRPr sz="2400" b="1">
                <a:solidFill>
                  <a:srgbClr val="F8FAFC"/>
                </a:solidFill>
                <a:latin typeface="Segoe UI"/>
              </a:defRPr>
            </a:pPr>
            <a:r>
              <a:t>Safety, Privacy, and Regulatory Governance</a:t>
            </a:r>
          </a:p>
        </p:txBody>
      </p:sp>
      <p:sp>
        <p:nvSpPr>
          <p:cNvPr id="5" name="TextBox 4"/>
          <p:cNvSpPr txBox="1"/>
          <p:nvPr/>
        </p:nvSpPr>
        <p:spPr>
          <a:xfrm>
            <a:off x="731520" y="1325880"/>
            <a:ext cx="10698480" cy="365760"/>
          </a:xfrm>
          <a:prstGeom prst="rect">
            <a:avLst/>
          </a:prstGeom>
          <a:noFill/>
        </p:spPr>
        <p:txBody>
          <a:bodyPr wrap="square">
            <a:spAutoFit/>
          </a:bodyPr>
          <a:lstStyle/>
          <a:p>
            <a:pPr>
              <a:defRPr sz="1200">
                <a:solidFill>
                  <a:srgbClr val="94A3B8"/>
                </a:solidFill>
                <a:latin typeface="Segoe UI"/>
              </a:defRPr>
            </a:pPr>
            <a:r>
              <a:t>Engineered with data minimization, immutable auditing, and psychometric licensing compliance.</a:t>
            </a:r>
          </a:p>
        </p:txBody>
      </p:sp>
      <p:sp>
        <p:nvSpPr>
          <p:cNvPr id="6" name="Rectangle 5"/>
          <p:cNvSpPr/>
          <p:nvPr/>
        </p:nvSpPr>
        <p:spPr>
          <a:xfrm>
            <a:off x="731520" y="6400800"/>
            <a:ext cx="10728655" cy="12700"/>
          </a:xfrm>
          <a:prstGeom prst="rect">
            <a:avLst/>
          </a:prstGeom>
          <a:solidFill>
            <a:srgbClr val="2E3D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686800" cy="320040"/>
          </a:xfrm>
          <a:prstGeom prst="rect">
            <a:avLst/>
          </a:prstGeom>
          <a:noFill/>
        </p:spPr>
        <p:txBody>
          <a:bodyPr wrap="none">
            <a:spAutoFit/>
          </a:bodyPr>
          <a:lstStyle/>
          <a:p>
            <a:pPr>
              <a:defRPr sz="900">
                <a:solidFill>
                  <a:srgbClr val="94A3B8"/>
                </a:solidFill>
                <a:latin typeface="Segoe UI"/>
              </a:defRPr>
            </a:pPr>
            <a:r>
              <a:t>MindBridge AI • Investigational Cognitive Screening Platform • IRB Protocol MB-2026 • Non-Diagnostic</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00" b="1">
                <a:solidFill>
                  <a:srgbClr val="A5B4FC"/>
                </a:solidFill>
                <a:latin typeface="Segoe UI"/>
              </a:defRPr>
            </a:pPr>
            <a:r>
              <a:t>9 / 12</a:t>
            </a:r>
          </a:p>
        </p:txBody>
      </p:sp>
      <p:sp>
        <p:nvSpPr>
          <p:cNvPr id="9" name="Rounded Rectangle 8"/>
          <p:cNvSpPr/>
          <p:nvPr/>
        </p:nvSpPr>
        <p:spPr>
          <a:xfrm>
            <a:off x="731520" y="1828800"/>
            <a:ext cx="5212080" cy="2011680"/>
          </a:xfrm>
          <a:prstGeom prst="roundRect">
            <a:avLst/>
          </a:prstGeom>
          <a:solidFill>
            <a:srgbClr val="182038"/>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965960"/>
            <a:ext cx="4846320" cy="1737360"/>
          </a:xfrm>
          <a:prstGeom prst="rect">
            <a:avLst/>
          </a:prstGeom>
          <a:noFill/>
        </p:spPr>
        <p:txBody>
          <a:bodyPr wrap="square">
            <a:spAutoFit/>
          </a:bodyPr>
          <a:lstStyle/>
          <a:p>
            <a:pPr>
              <a:defRPr sz="1300" b="1">
                <a:solidFill>
                  <a:srgbClr val="14B8A6"/>
                </a:solidFill>
                <a:latin typeface="Segoe UI"/>
              </a:defRPr>
            </a:pPr>
            <a:r>
              <a:t>Pseudonymization &amp; Cryptographic Consent</a:t>
            </a:r>
          </a:p>
          <a:p>
            <a:pPr>
              <a:defRPr sz="1050">
                <a:solidFill>
                  <a:srgbClr val="F8FAFC"/>
                </a:solidFill>
                <a:latin typeface="Segoe UI"/>
              </a:defRPr>
            </a:pPr>
            <a:r>
              <a:t>Personal identifiers are decoupled from test sessions. Participants are referenced solely by pseudonyms (e.g., MB-P-7281). Every assessment requires recorded informed consent with timestamp, version ID, and SHA-256 cryptographic hash.</a:t>
            </a:r>
          </a:p>
        </p:txBody>
      </p:sp>
      <p:sp>
        <p:nvSpPr>
          <p:cNvPr id="11" name="Rounded Rectangle 10"/>
          <p:cNvSpPr/>
          <p:nvPr/>
        </p:nvSpPr>
        <p:spPr>
          <a:xfrm>
            <a:off x="6217920" y="1828800"/>
            <a:ext cx="5212080" cy="2011680"/>
          </a:xfrm>
          <a:prstGeom prst="roundRect">
            <a:avLst/>
          </a:prstGeom>
          <a:solidFill>
            <a:srgbClr val="182038"/>
          </a:solidFill>
          <a:ln w="12700">
            <a:solidFill>
              <a:srgbClr val="A5B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965960"/>
            <a:ext cx="4846320" cy="1737360"/>
          </a:xfrm>
          <a:prstGeom prst="rect">
            <a:avLst/>
          </a:prstGeom>
          <a:noFill/>
        </p:spPr>
        <p:txBody>
          <a:bodyPr wrap="square">
            <a:spAutoFit/>
          </a:bodyPr>
          <a:lstStyle/>
          <a:p>
            <a:pPr>
              <a:defRPr sz="1300" b="1">
                <a:solidFill>
                  <a:srgbClr val="A5B4FC"/>
                </a:solidFill>
                <a:latin typeface="Segoe UI"/>
              </a:defRPr>
            </a:pPr>
            <a:r>
              <a:t>Immutable Audit Logging</a:t>
            </a:r>
          </a:p>
          <a:p>
            <a:pPr>
              <a:defRPr sz="1050">
                <a:solidFill>
                  <a:srgbClr val="F8FAFC"/>
                </a:solidFill>
                <a:latin typeface="Segoe UI"/>
              </a:defRPr>
            </a:pPr>
            <a:r>
              <a:t>Every access to participant records, session trends, and exported screening summaries is permanently logged in the AUDIT_LOGS table with user ID, role, resource ID, and timestamp, satisfying HIPAA and GDPR accounting requirements.</a:t>
            </a:r>
          </a:p>
        </p:txBody>
      </p:sp>
      <p:sp>
        <p:nvSpPr>
          <p:cNvPr id="13" name="Rounded Rectangle 12"/>
          <p:cNvSpPr/>
          <p:nvPr/>
        </p:nvSpPr>
        <p:spPr>
          <a:xfrm>
            <a:off x="731520" y="4023360"/>
            <a:ext cx="5212080" cy="2011680"/>
          </a:xfrm>
          <a:prstGeom prst="roundRect">
            <a:avLst/>
          </a:prstGeom>
          <a:solidFill>
            <a:srgbClr val="182038"/>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160520"/>
            <a:ext cx="4846320" cy="1737360"/>
          </a:xfrm>
          <a:prstGeom prst="rect">
            <a:avLst/>
          </a:prstGeom>
          <a:noFill/>
        </p:spPr>
        <p:txBody>
          <a:bodyPr wrap="square">
            <a:spAutoFit/>
          </a:bodyPr>
          <a:lstStyle/>
          <a:p>
            <a:pPr>
              <a:defRPr sz="1300" b="1">
                <a:solidFill>
                  <a:srgbClr val="F59E0B"/>
                </a:solidFill>
                <a:latin typeface="Segoe UI"/>
              </a:defRPr>
            </a:pPr>
            <a:r>
              <a:t>Psychometric Licensing Compliance</a:t>
            </a:r>
          </a:p>
          <a:p>
            <a:pPr>
              <a:defRPr sz="1050">
                <a:solidFill>
                  <a:srgbClr val="F8FAFC"/>
                </a:solidFill>
                <a:latin typeface="Segoe UI"/>
              </a:defRPr>
            </a:pPr>
            <a:r>
              <a:t>MindBridge AI strictly segregates open research paradigms (Word Recall, Digit Span, Stroop, Trail B) from proprietary commercial instruments (MoCA, MMSE). Clinicians can manually log external scores without violating third-party IP.</a:t>
            </a:r>
          </a:p>
        </p:txBody>
      </p:sp>
      <p:sp>
        <p:nvSpPr>
          <p:cNvPr id="15" name="Rounded Rectangle 14"/>
          <p:cNvSpPr/>
          <p:nvPr/>
        </p:nvSpPr>
        <p:spPr>
          <a:xfrm>
            <a:off x="6217920" y="4023360"/>
            <a:ext cx="5212080" cy="2011680"/>
          </a:xfrm>
          <a:prstGeom prst="roundRect">
            <a:avLst/>
          </a:prstGeom>
          <a:solidFill>
            <a:srgbClr val="182038"/>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4160520"/>
            <a:ext cx="4846320" cy="1737360"/>
          </a:xfrm>
          <a:prstGeom prst="rect">
            <a:avLst/>
          </a:prstGeom>
          <a:noFill/>
        </p:spPr>
        <p:txBody>
          <a:bodyPr wrap="square">
            <a:spAutoFit/>
          </a:bodyPr>
          <a:lstStyle/>
          <a:p>
            <a:pPr>
              <a:defRPr sz="1300" b="1">
                <a:solidFill>
                  <a:srgbClr val="F43F5E"/>
                </a:solidFill>
                <a:latin typeface="Segoe UI"/>
              </a:defRPr>
            </a:pPr>
            <a:r>
              <a:t>Universal Cognitive Accessibility</a:t>
            </a:r>
          </a:p>
          <a:p>
            <a:pPr>
              <a:defRPr sz="1050">
                <a:solidFill>
                  <a:srgbClr val="F8FAFC"/>
                </a:solidFill>
                <a:latin typeface="Segoe UI"/>
              </a:defRPr>
            </a:pPr>
            <a:r>
              <a:t>Designed for older adults with varying visual and motor capabilities: WCAG 2.1 AA compliant high-contrast mode, standard/large/extra-large font scaling, and glare-reducing dark mode.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011680" cy="320040"/>
          </a:xfrm>
          <a:prstGeom prst="roundRect">
            <a:avLst/>
          </a:prstGeom>
          <a:solidFill>
            <a:srgbClr val="1C2541"/>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4B8A6"/>
                </a:solidFill>
                <a:latin typeface="Segoe UI"/>
              </a:defRPr>
            </a:pPr>
            <a:r>
              <a:t>VALUE PROPOSITION</a:t>
            </a:r>
          </a:p>
        </p:txBody>
      </p:sp>
      <p:sp>
        <p:nvSpPr>
          <p:cNvPr id="4" name="TextBox 3"/>
          <p:cNvSpPr txBox="1"/>
          <p:nvPr/>
        </p:nvSpPr>
        <p:spPr>
          <a:xfrm>
            <a:off x="731520" y="822960"/>
            <a:ext cx="10698480" cy="548640"/>
          </a:xfrm>
          <a:prstGeom prst="rect">
            <a:avLst/>
          </a:prstGeom>
          <a:noFill/>
        </p:spPr>
        <p:txBody>
          <a:bodyPr wrap="square">
            <a:spAutoFit/>
          </a:bodyPr>
          <a:lstStyle/>
          <a:p>
            <a:pPr>
              <a:defRPr sz="2400" b="1">
                <a:solidFill>
                  <a:srgbClr val="F8FAFC"/>
                </a:solidFill>
                <a:latin typeface="Segoe UI"/>
              </a:defRPr>
            </a:pPr>
            <a:r>
              <a:t>Bridging the Gap in Longitudinal Cognitive Screening</a:t>
            </a:r>
          </a:p>
        </p:txBody>
      </p:sp>
      <p:sp>
        <p:nvSpPr>
          <p:cNvPr id="5" name="TextBox 4"/>
          <p:cNvSpPr txBox="1"/>
          <p:nvPr/>
        </p:nvSpPr>
        <p:spPr>
          <a:xfrm>
            <a:off x="731520" y="1325880"/>
            <a:ext cx="10698480" cy="365760"/>
          </a:xfrm>
          <a:prstGeom prst="rect">
            <a:avLst/>
          </a:prstGeom>
          <a:noFill/>
        </p:spPr>
        <p:txBody>
          <a:bodyPr wrap="square">
            <a:spAutoFit/>
          </a:bodyPr>
          <a:lstStyle/>
          <a:p>
            <a:pPr>
              <a:defRPr sz="1200">
                <a:solidFill>
                  <a:srgbClr val="94A3B8"/>
                </a:solidFill>
                <a:latin typeface="Segoe UI"/>
              </a:defRPr>
            </a:pPr>
            <a:r>
              <a:t>Complementing traditional clinical workflows without making unsupported diagnostic claims.</a:t>
            </a:r>
          </a:p>
        </p:txBody>
      </p:sp>
      <p:sp>
        <p:nvSpPr>
          <p:cNvPr id="6" name="Rectangle 5"/>
          <p:cNvSpPr/>
          <p:nvPr/>
        </p:nvSpPr>
        <p:spPr>
          <a:xfrm>
            <a:off x="731520" y="6400800"/>
            <a:ext cx="10728655" cy="12700"/>
          </a:xfrm>
          <a:prstGeom prst="rect">
            <a:avLst/>
          </a:prstGeom>
          <a:solidFill>
            <a:srgbClr val="2E3D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686800" cy="320040"/>
          </a:xfrm>
          <a:prstGeom prst="rect">
            <a:avLst/>
          </a:prstGeom>
          <a:noFill/>
        </p:spPr>
        <p:txBody>
          <a:bodyPr wrap="none">
            <a:spAutoFit/>
          </a:bodyPr>
          <a:lstStyle/>
          <a:p>
            <a:pPr>
              <a:defRPr sz="900">
                <a:solidFill>
                  <a:srgbClr val="94A3B8"/>
                </a:solidFill>
                <a:latin typeface="Segoe UI"/>
              </a:defRPr>
            </a:pPr>
            <a:r>
              <a:t>MindBridge AI • Investigational Cognitive Screening Platform • IRB Protocol MB-2026 • Non-Diagnostic</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00" b="1">
                <a:solidFill>
                  <a:srgbClr val="A5B4FC"/>
                </a:solidFill>
                <a:latin typeface="Segoe UI"/>
              </a:defRPr>
            </a:pPr>
            <a:r>
              <a:t>10 / 12</a:t>
            </a:r>
          </a:p>
        </p:txBody>
      </p:sp>
      <p:sp>
        <p:nvSpPr>
          <p:cNvPr id="9" name="Rounded Rectangle 8"/>
          <p:cNvSpPr/>
          <p:nvPr/>
        </p:nvSpPr>
        <p:spPr>
          <a:xfrm>
            <a:off x="731520" y="1828800"/>
            <a:ext cx="3474720" cy="4389120"/>
          </a:xfrm>
          <a:prstGeom prst="roundRect">
            <a:avLst/>
          </a:prstGeom>
          <a:solidFill>
            <a:srgbClr val="182038"/>
          </a:solidFill>
          <a:ln w="12700">
            <a:solidFill>
              <a:srgbClr val="2E3D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011680"/>
            <a:ext cx="3108960" cy="4023360"/>
          </a:xfrm>
          <a:prstGeom prst="rect">
            <a:avLst/>
          </a:prstGeom>
          <a:noFill/>
        </p:spPr>
        <p:txBody>
          <a:bodyPr wrap="square">
            <a:spAutoFit/>
          </a:bodyPr>
          <a:lstStyle/>
          <a:p>
            <a:pPr>
              <a:defRPr sz="1350" b="1">
                <a:solidFill>
                  <a:srgbClr val="A5B4FC"/>
                </a:solidFill>
                <a:latin typeface="Segoe UI"/>
              </a:defRPr>
            </a:pPr>
            <a:r>
              <a:t>Traditional Paper Tests (MMSE, MoCA)</a:t>
            </a:r>
          </a:p>
          <a:p>
            <a:pPr>
              <a:defRPr sz="1100">
                <a:solidFill>
                  <a:srgbClr val="F8FAFC"/>
                </a:solidFill>
                <a:latin typeface="Segoe UI"/>
              </a:defRPr>
            </a:pPr>
            <a:r>
              <a:t>• Infrequent annual snapshots</a:t>
            </a:r>
            <a:br/>
            <a:r>
              <a:t>• Coarse composite scoring</a:t>
            </a:r>
            <a:br/>
            <a:r>
              <a:t>• Zero reaction time latency capture</a:t>
            </a:r>
            <a:br/>
            <a:r>
              <a:t>• Significant test anxiety</a:t>
            </a:r>
            <a:br/>
            <a:r>
              <a:t>• Manual scoring overhead</a:t>
            </a:r>
            <a:br/>
            <a:r>
              <a:t>• Static demographic cutoffs</a:t>
            </a:r>
          </a:p>
        </p:txBody>
      </p:sp>
      <p:sp>
        <p:nvSpPr>
          <p:cNvPr id="11" name="Rounded Rectangle 10"/>
          <p:cNvSpPr/>
          <p:nvPr/>
        </p:nvSpPr>
        <p:spPr>
          <a:xfrm>
            <a:off x="4343400" y="1828800"/>
            <a:ext cx="3474720" cy="4389120"/>
          </a:xfrm>
          <a:prstGeom prst="roundRect">
            <a:avLst/>
          </a:prstGeom>
          <a:solidFill>
            <a:srgbClr val="182038"/>
          </a:solidFill>
          <a:ln w="12700">
            <a:solidFill>
              <a:srgbClr val="2E3D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2011680"/>
            <a:ext cx="3108960" cy="4023360"/>
          </a:xfrm>
          <a:prstGeom prst="rect">
            <a:avLst/>
          </a:prstGeom>
          <a:noFill/>
        </p:spPr>
        <p:txBody>
          <a:bodyPr wrap="square">
            <a:spAutoFit/>
          </a:bodyPr>
          <a:lstStyle/>
          <a:p>
            <a:pPr>
              <a:defRPr sz="1350" b="1">
                <a:solidFill>
                  <a:srgbClr val="A5B4FC"/>
                </a:solidFill>
                <a:latin typeface="Segoe UI"/>
              </a:defRPr>
            </a:pPr>
            <a:r>
              <a:t>Specialized Digital R&amp;D Suites</a:t>
            </a:r>
          </a:p>
          <a:p>
            <a:pPr>
              <a:defRPr sz="1100">
                <a:solidFill>
                  <a:srgbClr val="F8FAFC"/>
                </a:solidFill>
                <a:latin typeface="Segoe UI"/>
              </a:defRPr>
            </a:pPr>
            <a:r>
              <a:t>• High cost per participant</a:t>
            </a:r>
            <a:br/>
            <a:r>
              <a:t>• Proprietary black-box algorithms</a:t>
            </a:r>
            <a:br/>
            <a:r>
              <a:t>• Locked proprietary schemas</a:t>
            </a:r>
            <a:br/>
            <a:r>
              <a:t>• Not integrated with hospital databases</a:t>
            </a:r>
            <a:br/>
            <a:r>
              <a:t>• Limited accessibility customization</a:t>
            </a:r>
            <a:br/>
            <a:r>
              <a:t>• Academic license restrictions</a:t>
            </a:r>
          </a:p>
        </p:txBody>
      </p:sp>
      <p:sp>
        <p:nvSpPr>
          <p:cNvPr id="13" name="Rounded Rectangle 12"/>
          <p:cNvSpPr/>
          <p:nvPr/>
        </p:nvSpPr>
        <p:spPr>
          <a:xfrm>
            <a:off x="7955280" y="1828800"/>
            <a:ext cx="3474720" cy="4389120"/>
          </a:xfrm>
          <a:prstGeom prst="roundRect">
            <a:avLst/>
          </a:prstGeom>
          <a:solidFill>
            <a:srgbClr val="182038"/>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0" y="2011680"/>
            <a:ext cx="3108960" cy="4023360"/>
          </a:xfrm>
          <a:prstGeom prst="rect">
            <a:avLst/>
          </a:prstGeom>
          <a:noFill/>
        </p:spPr>
        <p:txBody>
          <a:bodyPr wrap="square">
            <a:spAutoFit/>
          </a:bodyPr>
          <a:lstStyle/>
          <a:p>
            <a:pPr>
              <a:defRPr sz="1350" b="1">
                <a:solidFill>
                  <a:srgbClr val="14B8A6"/>
                </a:solidFill>
                <a:latin typeface="Segoe UI"/>
              </a:defRPr>
            </a:pPr>
            <a:r>
              <a:t>MindBridge AI Platform</a:t>
            </a:r>
          </a:p>
          <a:p>
            <a:pPr>
              <a:defRPr sz="1100">
                <a:solidFill>
                  <a:srgbClr val="F8FAFC"/>
                </a:solidFill>
                <a:latin typeface="Segoe UI"/>
              </a:defRPr>
            </a:pPr>
            <a:r>
              <a:t>• High-frequency longitudinal tracking</a:t>
            </a:r>
            <a:br/>
            <a:r>
              <a:t>• Millisecond-precision latency capture</a:t>
            </a:r>
            <a:br/>
            <a:r>
              <a:t>• Exasol Personal open SQL analytics</a:t>
            </a:r>
            <a:br/>
            <a:r>
              <a:t>• Demographically adjusted normative Z-scores</a:t>
            </a:r>
            <a:br/>
            <a:r>
              <a:t>• Audited demographic subgroup fairness</a:t>
            </a:r>
            <a:br/>
            <a:r>
              <a:t>• Exportable clinician screening summaries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011680" cy="320040"/>
          </a:xfrm>
          <a:prstGeom prst="roundRect">
            <a:avLst/>
          </a:prstGeom>
          <a:solidFill>
            <a:srgbClr val="1C2541"/>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4B8A6"/>
                </a:solidFill>
                <a:latin typeface="Segoe UI"/>
              </a:defRPr>
            </a:pPr>
            <a:r>
              <a:t>PHASED PRODUCT ROADMAP</a:t>
            </a:r>
          </a:p>
        </p:txBody>
      </p:sp>
      <p:sp>
        <p:nvSpPr>
          <p:cNvPr id="4" name="TextBox 3"/>
          <p:cNvSpPr txBox="1"/>
          <p:nvPr/>
        </p:nvSpPr>
        <p:spPr>
          <a:xfrm>
            <a:off x="731520" y="822960"/>
            <a:ext cx="10698480" cy="548640"/>
          </a:xfrm>
          <a:prstGeom prst="rect">
            <a:avLst/>
          </a:prstGeom>
          <a:noFill/>
        </p:spPr>
        <p:txBody>
          <a:bodyPr wrap="square">
            <a:spAutoFit/>
          </a:bodyPr>
          <a:lstStyle/>
          <a:p>
            <a:pPr>
              <a:defRPr sz="2400" b="1">
                <a:solidFill>
                  <a:srgbClr val="F8FAFC"/>
                </a:solidFill>
                <a:latin typeface="Segoe UI"/>
              </a:defRPr>
            </a:pPr>
            <a:r>
              <a:t>Development Milestones &amp; Proposed Success Metrics</a:t>
            </a:r>
          </a:p>
        </p:txBody>
      </p:sp>
      <p:sp>
        <p:nvSpPr>
          <p:cNvPr id="5" name="TextBox 4"/>
          <p:cNvSpPr txBox="1"/>
          <p:nvPr/>
        </p:nvSpPr>
        <p:spPr>
          <a:xfrm>
            <a:off x="731520" y="1325880"/>
            <a:ext cx="10698480" cy="365760"/>
          </a:xfrm>
          <a:prstGeom prst="rect">
            <a:avLst/>
          </a:prstGeom>
          <a:noFill/>
        </p:spPr>
        <p:txBody>
          <a:bodyPr wrap="square">
            <a:spAutoFit/>
          </a:bodyPr>
          <a:lstStyle/>
          <a:p>
            <a:pPr>
              <a:defRPr sz="1200">
                <a:solidFill>
                  <a:srgbClr val="94A3B8"/>
                </a:solidFill>
                <a:latin typeface="Segoe UI"/>
              </a:defRPr>
            </a:pPr>
            <a:r>
              <a:t>A responsible phased progression from verified prototype to clinical research validation.</a:t>
            </a:r>
          </a:p>
        </p:txBody>
      </p:sp>
      <p:sp>
        <p:nvSpPr>
          <p:cNvPr id="6" name="Rectangle 5"/>
          <p:cNvSpPr/>
          <p:nvPr/>
        </p:nvSpPr>
        <p:spPr>
          <a:xfrm>
            <a:off x="731520" y="6400800"/>
            <a:ext cx="10728655" cy="12700"/>
          </a:xfrm>
          <a:prstGeom prst="rect">
            <a:avLst/>
          </a:prstGeom>
          <a:solidFill>
            <a:srgbClr val="2E3D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686800" cy="320040"/>
          </a:xfrm>
          <a:prstGeom prst="rect">
            <a:avLst/>
          </a:prstGeom>
          <a:noFill/>
        </p:spPr>
        <p:txBody>
          <a:bodyPr wrap="none">
            <a:spAutoFit/>
          </a:bodyPr>
          <a:lstStyle/>
          <a:p>
            <a:pPr>
              <a:defRPr sz="900">
                <a:solidFill>
                  <a:srgbClr val="94A3B8"/>
                </a:solidFill>
                <a:latin typeface="Segoe UI"/>
              </a:defRPr>
            </a:pPr>
            <a:r>
              <a:t>MindBridge AI • Investigational Cognitive Screening Platform • IRB Protocol MB-2026 • Non-Diagnostic</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00" b="1">
                <a:solidFill>
                  <a:srgbClr val="A5B4FC"/>
                </a:solidFill>
                <a:latin typeface="Segoe UI"/>
              </a:defRPr>
            </a:pPr>
            <a:r>
              <a:t>11 / 12</a:t>
            </a:r>
          </a:p>
        </p:txBody>
      </p:sp>
      <p:sp>
        <p:nvSpPr>
          <p:cNvPr id="9" name="Rounded Rectangle 8"/>
          <p:cNvSpPr/>
          <p:nvPr/>
        </p:nvSpPr>
        <p:spPr>
          <a:xfrm>
            <a:off x="731520" y="1828800"/>
            <a:ext cx="2514600" cy="4389120"/>
          </a:xfrm>
          <a:prstGeom prst="roundRect">
            <a:avLst/>
          </a:prstGeom>
          <a:solidFill>
            <a:srgbClr val="182038"/>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011680"/>
            <a:ext cx="2240280" cy="4023360"/>
          </a:xfrm>
          <a:prstGeom prst="rect">
            <a:avLst/>
          </a:prstGeom>
          <a:noFill/>
        </p:spPr>
        <p:txBody>
          <a:bodyPr wrap="square">
            <a:spAutoFit/>
          </a:bodyPr>
          <a:lstStyle/>
          <a:p>
            <a:pPr>
              <a:defRPr sz="1200" b="1">
                <a:solidFill>
                  <a:srgbClr val="14B8A6"/>
                </a:solidFill>
                <a:latin typeface="Segoe UI"/>
              </a:defRPr>
            </a:pPr>
            <a:r>
              <a:t>Phase 1: Working Prototype</a:t>
            </a:r>
            <a:br/>
            <a:r>
              <a:t>[CURRENT / COMPLETED]</a:t>
            </a:r>
          </a:p>
          <a:p>
            <a:pPr>
              <a:defRPr sz="1000">
                <a:solidFill>
                  <a:srgbClr val="F8FAFC"/>
                </a:solidFill>
                <a:latin typeface="Segoe UI"/>
              </a:defRPr>
            </a:pPr>
            <a:r>
              <a:t>• 5 computerized cognitive paradigms</a:t>
            </a:r>
            <a:br/>
            <a:r>
              <a:t>• FastAPI backend with pyexasol</a:t>
            </a:r>
            <a:br/>
            <a:r>
              <a:t>• Normative demographic Z-scoring</a:t>
            </a:r>
            <a:br/>
            <a:r>
              <a:t>• Calibrated RF model &amp; Fairness Audit</a:t>
            </a:r>
            <a:br/>
            <a:r>
              <a:t>• 11/11 automated pytest suite passing</a:t>
            </a:r>
          </a:p>
        </p:txBody>
      </p:sp>
      <p:sp>
        <p:nvSpPr>
          <p:cNvPr id="11" name="Rounded Rectangle 10"/>
          <p:cNvSpPr/>
          <p:nvPr/>
        </p:nvSpPr>
        <p:spPr>
          <a:xfrm>
            <a:off x="3465576" y="1828800"/>
            <a:ext cx="2514600" cy="4389120"/>
          </a:xfrm>
          <a:prstGeom prst="roundRect">
            <a:avLst/>
          </a:prstGeom>
          <a:solidFill>
            <a:srgbClr val="182038"/>
          </a:solidFill>
          <a:ln w="12700">
            <a:solidFill>
              <a:srgbClr val="A5B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02736" y="2011680"/>
            <a:ext cx="2240280" cy="4023360"/>
          </a:xfrm>
          <a:prstGeom prst="rect">
            <a:avLst/>
          </a:prstGeom>
          <a:noFill/>
        </p:spPr>
        <p:txBody>
          <a:bodyPr wrap="square">
            <a:spAutoFit/>
          </a:bodyPr>
          <a:lstStyle/>
          <a:p>
            <a:pPr>
              <a:defRPr sz="1200" b="1">
                <a:solidFill>
                  <a:srgbClr val="A5B4FC"/>
                </a:solidFill>
                <a:latin typeface="Segoe UI"/>
              </a:defRPr>
            </a:pPr>
            <a:r>
              <a:t>Phase 2: Older Adult Usability</a:t>
            </a:r>
            <a:br/>
            <a:r>
              <a:t>[PROPOSED Q1 2027]</a:t>
            </a:r>
          </a:p>
          <a:p>
            <a:pPr>
              <a:defRPr sz="1000">
                <a:solidFill>
                  <a:srgbClr val="F8FAFC"/>
                </a:solidFill>
                <a:latin typeface="Segoe UI"/>
              </a:defRPr>
            </a:pPr>
            <a:r>
              <a:t>• Formative usability testing (n=40, ages 60–85)</a:t>
            </a:r>
            <a:br/>
            <a:r>
              <a:t>• Touch-screen latency calibration</a:t>
            </a:r>
            <a:br/>
            <a:r>
              <a:t>• System Usability Scale (SUS) target &gt; 82</a:t>
            </a:r>
            <a:br/>
            <a:r>
              <a:t>• Audio-assisted instructions for visually impaired</a:t>
            </a:r>
          </a:p>
        </p:txBody>
      </p:sp>
      <p:sp>
        <p:nvSpPr>
          <p:cNvPr id="13" name="Rounded Rectangle 12"/>
          <p:cNvSpPr/>
          <p:nvPr/>
        </p:nvSpPr>
        <p:spPr>
          <a:xfrm>
            <a:off x="6199632" y="1828800"/>
            <a:ext cx="2514600" cy="4389120"/>
          </a:xfrm>
          <a:prstGeom prst="roundRect">
            <a:avLst/>
          </a:prstGeom>
          <a:solidFill>
            <a:srgbClr val="182038"/>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36792" y="2011680"/>
            <a:ext cx="2240280" cy="4023360"/>
          </a:xfrm>
          <a:prstGeom prst="rect">
            <a:avLst/>
          </a:prstGeom>
          <a:noFill/>
        </p:spPr>
        <p:txBody>
          <a:bodyPr wrap="square">
            <a:spAutoFit/>
          </a:bodyPr>
          <a:lstStyle/>
          <a:p>
            <a:pPr>
              <a:defRPr sz="1200" b="1">
                <a:solidFill>
                  <a:srgbClr val="F59E0B"/>
                </a:solidFill>
                <a:latin typeface="Segoe UI"/>
              </a:defRPr>
            </a:pPr>
            <a:r>
              <a:t>Phase 3: Longitudinal Cohort</a:t>
            </a:r>
            <a:br/>
            <a:r>
              <a:t>[PROPOSED Q3 2027]</a:t>
            </a:r>
          </a:p>
          <a:p>
            <a:pPr>
              <a:defRPr sz="1000">
                <a:solidFill>
                  <a:srgbClr val="F8FAFC"/>
                </a:solidFill>
                <a:latin typeface="Segoe UI"/>
              </a:defRPr>
            </a:pPr>
            <a:r>
              <a:t>• Academic multi-site research study (n=500)</a:t>
            </a:r>
            <a:br/>
            <a:r>
              <a:t>• 12-month longitudinal tracking</a:t>
            </a:r>
            <a:br/>
            <a:r>
              <a:t>• Cross-validation with external neuropsych batteries</a:t>
            </a:r>
            <a:br/>
            <a:r>
              <a:t>• Retest reliability r &gt; 0.85 across battery</a:t>
            </a:r>
          </a:p>
        </p:txBody>
      </p:sp>
      <p:sp>
        <p:nvSpPr>
          <p:cNvPr id="15" name="Rounded Rectangle 14"/>
          <p:cNvSpPr/>
          <p:nvPr/>
        </p:nvSpPr>
        <p:spPr>
          <a:xfrm>
            <a:off x="8933688" y="1828800"/>
            <a:ext cx="2514600" cy="4389120"/>
          </a:xfrm>
          <a:prstGeom prst="roundRect">
            <a:avLst/>
          </a:prstGeom>
          <a:solidFill>
            <a:srgbClr val="182038"/>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70848" y="2011680"/>
            <a:ext cx="2240280" cy="4023360"/>
          </a:xfrm>
          <a:prstGeom prst="rect">
            <a:avLst/>
          </a:prstGeom>
          <a:noFill/>
        </p:spPr>
        <p:txBody>
          <a:bodyPr wrap="square">
            <a:spAutoFit/>
          </a:bodyPr>
          <a:lstStyle/>
          <a:p>
            <a:pPr>
              <a:defRPr sz="1200" b="1">
                <a:solidFill>
                  <a:srgbClr val="F43F5E"/>
                </a:solidFill>
                <a:latin typeface="Segoe UI"/>
              </a:defRPr>
            </a:pPr>
            <a:r>
              <a:t>Phase 4: Clinician Triage</a:t>
            </a:r>
            <a:br/>
            <a:r>
              <a:t>[PROPOSED 2028]</a:t>
            </a:r>
          </a:p>
          <a:p>
            <a:pPr>
              <a:defRPr sz="1000">
                <a:solidFill>
                  <a:srgbClr val="F8FAFC"/>
                </a:solidFill>
                <a:latin typeface="Segoe UI"/>
              </a:defRPr>
            </a:pPr>
            <a:r>
              <a:t>• Clinician-supervised triage evaluation</a:t>
            </a:r>
            <a:br/>
            <a:r>
              <a:t>• Referral efficiency improvement target: 30%</a:t>
            </a:r>
            <a:br/>
            <a:r>
              <a:t>• HL7/FHIR EHR data exchange</a:t>
            </a:r>
            <a:br/>
            <a:r>
              <a:t>• Multi-site Exasol cluster deployment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011680" cy="320040"/>
          </a:xfrm>
          <a:prstGeom prst="roundRect">
            <a:avLst/>
          </a:prstGeom>
          <a:solidFill>
            <a:srgbClr val="1C2541"/>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4B8A6"/>
                </a:solidFill>
                <a:latin typeface="Segoe UI"/>
              </a:defRPr>
            </a:pPr>
            <a:r>
              <a:t>SUMMARY &amp; NEXT STEPS</a:t>
            </a:r>
          </a:p>
        </p:txBody>
      </p:sp>
      <p:sp>
        <p:nvSpPr>
          <p:cNvPr id="4" name="TextBox 3"/>
          <p:cNvSpPr txBox="1"/>
          <p:nvPr/>
        </p:nvSpPr>
        <p:spPr>
          <a:xfrm>
            <a:off x="731520" y="822960"/>
            <a:ext cx="10698480" cy="548640"/>
          </a:xfrm>
          <a:prstGeom prst="rect">
            <a:avLst/>
          </a:prstGeom>
          <a:noFill/>
        </p:spPr>
        <p:txBody>
          <a:bodyPr wrap="square">
            <a:spAutoFit/>
          </a:bodyPr>
          <a:lstStyle/>
          <a:p>
            <a:pPr>
              <a:defRPr sz="2400" b="1">
                <a:solidFill>
                  <a:srgbClr val="F8FAFC"/>
                </a:solidFill>
                <a:latin typeface="Segoe UI"/>
              </a:defRPr>
            </a:pPr>
            <a:r>
              <a:t>MindBridge AI: Empowering Longitudinal Cognitive Health</a:t>
            </a:r>
          </a:p>
        </p:txBody>
      </p:sp>
      <p:sp>
        <p:nvSpPr>
          <p:cNvPr id="5" name="TextBox 4"/>
          <p:cNvSpPr txBox="1"/>
          <p:nvPr/>
        </p:nvSpPr>
        <p:spPr>
          <a:xfrm>
            <a:off x="731520" y="1325880"/>
            <a:ext cx="10698480" cy="365760"/>
          </a:xfrm>
          <a:prstGeom prst="rect">
            <a:avLst/>
          </a:prstGeom>
          <a:noFill/>
        </p:spPr>
        <p:txBody>
          <a:bodyPr wrap="square">
            <a:spAutoFit/>
          </a:bodyPr>
          <a:lstStyle/>
          <a:p>
            <a:pPr>
              <a:defRPr sz="1200">
                <a:solidFill>
                  <a:srgbClr val="94A3B8"/>
                </a:solidFill>
                <a:latin typeface="Segoe UI"/>
              </a:defRPr>
            </a:pPr>
            <a:r>
              <a:t>Making cognitive performance easier to understand, track, and discuss.</a:t>
            </a:r>
          </a:p>
        </p:txBody>
      </p:sp>
      <p:sp>
        <p:nvSpPr>
          <p:cNvPr id="6" name="Rectangle 5"/>
          <p:cNvSpPr/>
          <p:nvPr/>
        </p:nvSpPr>
        <p:spPr>
          <a:xfrm>
            <a:off x="731520" y="6400800"/>
            <a:ext cx="10728655" cy="12700"/>
          </a:xfrm>
          <a:prstGeom prst="rect">
            <a:avLst/>
          </a:prstGeom>
          <a:solidFill>
            <a:srgbClr val="2E3D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8686800" cy="320040"/>
          </a:xfrm>
          <a:prstGeom prst="rect">
            <a:avLst/>
          </a:prstGeom>
          <a:noFill/>
        </p:spPr>
        <p:txBody>
          <a:bodyPr wrap="none">
            <a:spAutoFit/>
          </a:bodyPr>
          <a:lstStyle/>
          <a:p>
            <a:pPr>
              <a:defRPr sz="900">
                <a:solidFill>
                  <a:srgbClr val="94A3B8"/>
                </a:solidFill>
                <a:latin typeface="Segoe UI"/>
              </a:defRPr>
            </a:pPr>
            <a:r>
              <a:t>MindBridge AI • Investigational Cognitive Screening Platform • IRB Protocol MB-2026 • Non-Diagnostic</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00" b="1">
                <a:solidFill>
                  <a:srgbClr val="A5B4FC"/>
                </a:solidFill>
                <a:latin typeface="Segoe UI"/>
              </a:defRPr>
            </a:pPr>
            <a:r>
              <a:t>12 / 12</a:t>
            </a:r>
          </a:p>
        </p:txBody>
      </p:sp>
      <p:sp>
        <p:nvSpPr>
          <p:cNvPr id="9" name="Rounded Rectangle 8"/>
          <p:cNvSpPr/>
          <p:nvPr/>
        </p:nvSpPr>
        <p:spPr>
          <a:xfrm>
            <a:off x="731520" y="1828800"/>
            <a:ext cx="5212080" cy="4389120"/>
          </a:xfrm>
          <a:prstGeom prst="roundRect">
            <a:avLst/>
          </a:prstGeom>
          <a:solidFill>
            <a:srgbClr val="182038"/>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011680"/>
            <a:ext cx="4846320" cy="4023360"/>
          </a:xfrm>
          <a:prstGeom prst="rect">
            <a:avLst/>
          </a:prstGeom>
          <a:noFill/>
        </p:spPr>
        <p:txBody>
          <a:bodyPr wrap="square">
            <a:spAutoFit/>
          </a:bodyPr>
          <a:lstStyle/>
          <a:p>
            <a:pPr>
              <a:defRPr sz="1400" b="1">
                <a:solidFill>
                  <a:srgbClr val="14B8A6"/>
                </a:solidFill>
                <a:latin typeface="Segoe UI"/>
              </a:defRPr>
            </a:pPr>
            <a:r>
              <a:t>CORE PLATFORM ACHIEVEMENTS</a:t>
            </a:r>
          </a:p>
          <a:p>
            <a:pPr>
              <a:defRPr sz="1050">
                <a:solidFill>
                  <a:srgbClr val="F8FAFC"/>
                </a:solidFill>
                <a:latin typeface="Segoe UI"/>
              </a:defRPr>
            </a:pPr>
            <a:r>
              <a:t>✓ Interactive Psychometrics: 5 open cognitive paradigms with millisecond reaction timing.</a:t>
            </a:r>
          </a:p>
          <a:p>
            <a:pPr>
              <a:defRPr sz="1050">
                <a:solidFill>
                  <a:srgbClr val="F8FAFC"/>
                </a:solidFill>
                <a:latin typeface="Segoe UI"/>
              </a:defRPr>
            </a:pPr>
            <a:r>
              <a:t>✓ Exasol Personal Integration: In-memory columnar speed for longitudinal queries with transparent fallback integrity.</a:t>
            </a:r>
          </a:p>
          <a:p>
            <a:pPr>
              <a:defRPr sz="1050">
                <a:solidFill>
                  <a:srgbClr val="F8FAFC"/>
                </a:solidFill>
                <a:latin typeface="Segoe UI"/>
              </a:defRPr>
            </a:pPr>
            <a:r>
              <a:t>✓ Ethical Machine Learning: Calibrated Random Forest model with audited demographic subgroup fairness.</a:t>
            </a:r>
          </a:p>
          <a:p>
            <a:pPr>
              <a:defRPr sz="1050">
                <a:solidFill>
                  <a:srgbClr val="F8FAFC"/>
                </a:solidFill>
                <a:latin typeface="Segoe UI"/>
              </a:defRPr>
            </a:pPr>
            <a:r>
              <a:t>✓ Clinical Safeguards First: Non-diagnostic boundary, cryptographic consent, and immutable audit logs.</a:t>
            </a:r>
          </a:p>
          <a:p>
            <a:pPr>
              <a:defRPr sz="1050">
                <a:solidFill>
                  <a:srgbClr val="F8FAFC"/>
                </a:solidFill>
                <a:latin typeface="Segoe UI"/>
              </a:defRPr>
            </a:pPr>
            <a:r>
              <a:t>✓ Production Verified: Complete end-to-end web app with passing test suites and accessible UI.</a:t>
            </a:r>
          </a:p>
        </p:txBody>
      </p:sp>
      <p:sp>
        <p:nvSpPr>
          <p:cNvPr id="11" name="Rounded Rectangle 10"/>
          <p:cNvSpPr/>
          <p:nvPr/>
        </p:nvSpPr>
        <p:spPr>
          <a:xfrm>
            <a:off x="6217920" y="1828800"/>
            <a:ext cx="5242255" cy="4389120"/>
          </a:xfrm>
          <a:prstGeom prst="roundRect">
            <a:avLst/>
          </a:prstGeom>
          <a:solidFill>
            <a:srgbClr val="182038"/>
          </a:solidFill>
          <a:ln w="12700">
            <a:solidFill>
              <a:srgbClr val="A5B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011680"/>
            <a:ext cx="4846320" cy="4023360"/>
          </a:xfrm>
          <a:prstGeom prst="rect">
            <a:avLst/>
          </a:prstGeom>
          <a:noFill/>
        </p:spPr>
        <p:txBody>
          <a:bodyPr wrap="square">
            <a:spAutoFit/>
          </a:bodyPr>
          <a:lstStyle/>
          <a:p>
            <a:pPr>
              <a:defRPr sz="1400" b="1">
                <a:solidFill>
                  <a:srgbClr val="A5B4FC"/>
                </a:solidFill>
                <a:latin typeface="Segoe UI"/>
              </a:defRPr>
            </a:pPr>
            <a:r>
              <a:t>COLLABORATION &amp; RESEARCH INQUIRIES</a:t>
            </a:r>
          </a:p>
          <a:p>
            <a:pPr>
              <a:defRPr sz="1100" b="1">
                <a:solidFill>
                  <a:srgbClr val="F59E0B"/>
                </a:solidFill>
                <a:latin typeface="Segoe UI"/>
              </a:defRPr>
            </a:pPr>
            <a:r>
              <a:t>• Clinical Partnerships:</a:t>
            </a:r>
          </a:p>
          <a:p>
            <a:pPr>
              <a:defRPr sz="1000">
                <a:solidFill>
                  <a:srgbClr val="F8FAFC"/>
                </a:solidFill>
                <a:latin typeface="Segoe UI"/>
              </a:defRPr>
            </a:pPr>
            <a:r>
              <a:t>  Seeking academic neurology departments and cognitive research centers for longitudinal cohort validation studies.</a:t>
            </a:r>
          </a:p>
          <a:p>
            <a:pPr>
              <a:defRPr sz="1100" b="1">
                <a:solidFill>
                  <a:srgbClr val="F59E0B"/>
                </a:solidFill>
                <a:latin typeface="Segoe UI"/>
              </a:defRPr>
            </a:pPr>
            <a:r>
              <a:t>• Database &amp; Analytics Scaling:</a:t>
            </a:r>
          </a:p>
          <a:p>
            <a:pPr>
              <a:defRPr sz="1000">
                <a:solidFill>
                  <a:srgbClr val="F8FAFC"/>
                </a:solidFill>
                <a:latin typeface="Segoe UI"/>
              </a:defRPr>
            </a:pPr>
            <a:r>
              <a:t>  Collaborating on Exasol cluster scaling, distributed UDF analytics, and high-throughput psychometric data modeling.</a:t>
            </a:r>
          </a:p>
          <a:p>
            <a:pPr>
              <a:defRPr sz="1100" b="1">
                <a:solidFill>
                  <a:srgbClr val="F59E0B"/>
                </a:solidFill>
                <a:latin typeface="Segoe UI"/>
              </a:defRPr>
            </a:pPr>
            <a:r>
              <a:t>• Responsible AI Research:</a:t>
            </a:r>
          </a:p>
          <a:p>
            <a:pPr>
              <a:defRPr sz="1000">
                <a:solidFill>
                  <a:srgbClr val="F8FAFC"/>
                </a:solidFill>
                <a:latin typeface="Segoe UI"/>
              </a:defRPr>
            </a:pPr>
            <a:r>
              <a:t>  Open to interdisciplinary collaboration on fairness auditing, algorithmic calibration, and clinical decision support.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